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Be Vietnam Pro" pitchFamily="34" charset="0"/>
      <p:regular r:id="rId24"/>
      <p:bold r:id="rId25"/>
      <p:italic r:id="rId26"/>
      <p:boldItalic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4. Our project builds a custom embedded Linux with Yocto for the Raspberry Pi 4, deploys a MobileNet V1 Edge AI workload on it, and adds a Linux character device driver tested on QEMU.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members. Nam Nhật leads and built the Edge AI part. Quốc Hiệp reproduced the Yocto build and documented the boot flow. Hoàng Ngân and Thảo Uyên wrote the device driver; Hoàng Ngân also wrote the report. Gia Bảo set up QEMU emulation.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five chapters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the Edge AI part runs and is measured on a real Raspberry Pi 4 Model B; the device driver is built and tested only on QEMU (qemux86-64).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BootROM starts the GPU. Since the Pi 4, the second-stage bootloader lives in a 4 MB SPI EEPROM on the board. The GPU firmware start4.elf reads config.txt, loads the device tree and the kernel, writes the DTB address into r2 and releases the CPU. The kernel mounts the root partition, and systemd as PID 1 starts getty on the serial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Ubuntu 22.04 in VMware. If a build fails, we read the log, run bitbake -c cleansstate on the failing package and rebuild. The 329 MB WIC image has a 130 MB FAT32 boot partition and a 192.4 MB ext4 root partition; /sbin/init links to systemd. Tô Quốc Hiệp independently reproduced the build on a 50 GB host, which confirms it is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the Yocto image we added meta-tensorflow-lite, meta-openembedded and our own layer meta-edge-ai. Quantization maps float32 weights to 256 integer levels, so the model shrinks from about 16 MB to 4.1 MB and integer math runs faster on the Cortex-A72. Both engines are cross-compiled by Yocto; the C programs are 32-bit ARM ELF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each step from source code to the running virtual machine; right of each box is the BitBake task that does it. The driver lives in its own layer, meta-mydriver. It registers a misc device, so one misc_register call creates /dev/mychardev. Read and write use simple_read_from_buffer and simple_write_to_buffer under a mutex. runqemu qemux86-64 nographic slirp kvm boots a q35 machine with 4 cores and 256 MB RAM; SSH is forwarded on port 2222.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is almost identical, about 160 ms, because both engines call the same TensorFlow Lite kernels. The real difference is memory: 31.37 MiB for Python against 10.12 MiB for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num_threads parameter changes; the model weights stay the same. Going from 1 to 4 threads cuts latency from about 160 ms to about 44 ms, a 3.65 to 3.67 times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1,000 validation images were run with 1 and 4 threads on both engines. Python with 4 threads reaches 21.19 images/s. A line-by-line check of all 1,000 predictions found zero differences, so threading does not change the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timed the four stages of every image separately. Inference takes 93.30% to 98.32% of the time in every configuration, so optimizing file reading or tensor copying would barely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ondemand scales the clock from 600 MHz to 1.5 GHz; performance locks all four Cortex-A72 cores at 1.5 GHz. The gain is under 1%, so we restored ondemand. Per-class accuracy ranges from 32% (Church) to 91% (Tench, Golf Ball). Parameters and hashes are stored in experiment_record.txt.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ran 4,657 tasks, 4,552 of them from sstate-cache. The kernel loads mychardev at second 1.72 during boot thanks to KERNEL_MODULE_AUTOLOAD. Known limits: no O_TRUNC handling, writes past 1024 bytes return 0 instead of -ENOSPC, and the buffer is static.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research questions and both added objectives were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tensors were preprocessed on Ubuntu, so on-board JPEG decoding is not measured; repetitions are limited and power was not measured. The driver is a virtual device tested only on QEMU.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supervisor, M.Sc. Huỳnh Hoàng Hà,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71600"/>
            <a:ext cx="10566400" cy="408880"/>
          </a:xfrm>
          <a:prstGeom prst="rect">
            <a:avLst/>
          </a:prstGeom>
          <a:noFill/>
          <a:ln/>
        </p:spPr>
        <p:txBody>
          <a:bodyPr wrap="square" lIns="0" tIns="0" rIns="0" bIns="0" rtlCol="0" anchor="t"/>
          <a:lstStyle>
            <a:lvl1pPr algn="l" indent="0" marL="0">
              <a:lnSpc>
                <a:spcPct val="115000"/>
              </a:lnSpc>
              <a:buNone/>
              <a:defRPr lang="en-US" sz="2800" dirty="0">
                <a:solidFill>
                  <a:srgbClr val="0A2E6E"/>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085280"/>
            <a:ext cx="10566400" cy="3959920"/>
          </a:xfrm>
          <a:prstGeom prst="rect">
            <a:avLst/>
          </a:prstGeom>
          <a:noFill/>
          <a:ln/>
        </p:spPr>
        <p:txBody>
          <a:bodyPr wrap="square" lIns="0" tIns="0" rIns="0" bIns="0" rtlCol="0" anchor="t"/>
          <a:lstStyle>
            <a:lvl1pPr algn="l" indent="0" marL="0">
              <a:lnSpc>
                <a:spcPct val="140000"/>
              </a:lnSpc>
              <a:buNone/>
              <a:defRPr lang="en-US" sz="1600" dirty="0">
                <a:solidFill>
                  <a:srgbClr val="0A2E6E"/>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71600"/>
            <a:ext cx="10566400" cy="408880"/>
          </a:xfrm>
          <a:prstGeom prst="rect">
            <a:avLst/>
          </a:prstGeom>
          <a:noFill/>
          <a:ln/>
        </p:spPr>
        <p:txBody>
          <a:bodyPr wrap="square" lIns="0" tIns="0" rIns="0" bIns="0" rtlCol="0" anchor="t"/>
          <a:lstStyle>
            <a:lvl1pPr algn="l" indent="0" marL="0">
              <a:lnSpc>
                <a:spcPct val="115000"/>
              </a:lnSpc>
              <a:buNone/>
              <a:defRPr lang="en-US" sz="2800" dirty="0">
                <a:solidFill>
                  <a:srgbClr val="0A2E6E"/>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085280"/>
            <a:ext cx="10566400" cy="3959920"/>
          </a:xfrm>
          <a:prstGeom prst="rect">
            <a:avLst/>
          </a:prstGeom>
          <a:noFill/>
          <a:ln/>
        </p:spPr>
        <p:txBody>
          <a:bodyPr wrap="square" lIns="0" tIns="0" rIns="0" bIns="0" rtlCol="0" anchor="t"/>
          <a:lstStyle>
            <a:lvl1pPr algn="l" indent="0" marL="0">
              <a:lnSpc>
                <a:spcPct val="140000"/>
              </a:lnSpc>
              <a:buNone/>
              <a:defRPr lang="en-US" sz="1600" dirty="0">
                <a:solidFill>
                  <a:srgbClr val="0A2E6E"/>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01600"/>
          </a:xfrm>
          <a:prstGeom prst="rect">
            <a:avLst/>
          </a:prstGeom>
          <a:solidFill>
            <a:srgbClr val="0A2E6E"/>
          </a:solidFill>
          <a:ln/>
        </p:spPr>
      </p:sp>
      <p:sp>
        <p:nvSpPr>
          <p:cNvPr id="3" name="Shape 1"/>
          <p:cNvSpPr/>
          <p:nvPr/>
        </p:nvSpPr>
        <p:spPr>
          <a:xfrm>
            <a:off x="0" y="101600"/>
            <a:ext cx="12192000" cy="25400"/>
          </a:xfrm>
          <a:prstGeom prst="rect">
            <a:avLst/>
          </a:prstGeom>
          <a:solidFill>
            <a:srgbClr val="C8102E"/>
          </a:solidFill>
          <a:ln/>
        </p:spPr>
      </p:sp>
      <p:sp>
        <p:nvSpPr>
          <p:cNvPr id="4" name="Shape 2"/>
          <p:cNvSpPr/>
          <p:nvPr/>
        </p:nvSpPr>
        <p:spPr>
          <a:xfrm>
            <a:off x="0" y="6172200"/>
            <a:ext cx="12192000" cy="25400"/>
          </a:xfrm>
          <a:prstGeom prst="rect">
            <a:avLst/>
          </a:prstGeom>
          <a:solidFill>
            <a:srgbClr val="C8102E"/>
          </a:solidFill>
          <a:ln/>
        </p:spPr>
      </p:sp>
      <p:sp>
        <p:nvSpPr>
          <p:cNvPr id="5" name="Shape 3"/>
          <p:cNvSpPr/>
          <p:nvPr/>
        </p:nvSpPr>
        <p:spPr>
          <a:xfrm>
            <a:off x="0" y="6197600"/>
            <a:ext cx="12192000" cy="660400"/>
          </a:xfrm>
          <a:prstGeom prst="rect">
            <a:avLst/>
          </a:prstGeom>
          <a:solidFill>
            <a:srgbClr val="0A2E6E"/>
          </a:solidFill>
          <a:ln/>
        </p:spPr>
      </p:sp>
      <p:sp>
        <p:nvSpPr>
          <p:cNvPr id="6" name="Text 4"/>
          <p:cNvSpPr/>
          <p:nvPr/>
        </p:nvSpPr>
        <p:spPr>
          <a:xfrm>
            <a:off x="654304" y="6388100"/>
            <a:ext cx="10883392" cy="292100"/>
          </a:xfrm>
          <a:prstGeom prst="rect">
            <a:avLst/>
          </a:prstGeom>
          <a:noFill/>
          <a:ln/>
        </p:spPr>
        <p:txBody>
          <a:bodyPr wrap="square" lIns="0" tIns="0" rIns="0" bIns="0" rtlCol="0" anchor="t">
            <a:normAutofit/>
          </a:bodyPr>
          <a:lstStyle/>
          <a:p>
            <a:pPr algn="ctr" indent="0" marL="0">
              <a:lnSpc>
                <a:spcPts val="2100"/>
              </a:lnSpc>
              <a:buNone/>
            </a:pPr>
            <a:r>
              <a:rPr lang="en-US" sz="1500" b="1" i="1" dirty="0">
                <a:solidFill>
                  <a:srgbClr val="FFFFFF"/>
                </a:solidFill>
                <a:latin typeface="Be Vietnam Pro" pitchFamily="34" charset="0"/>
                <a:ea typeface="Be Vietnam Pro" pitchFamily="34" charset="-122"/>
                <a:cs typeface="Be Vietnam Pro" pitchFamily="34" charset="-120"/>
              </a:rPr>
              <a:t>Ho Chi Minh City, October 2026</a:t>
            </a:r>
            <a:endParaRPr lang="en-US" sz="1500" dirty="0"/>
          </a:p>
        </p:txBody>
      </p:sp>
      <p:pic>
        <p:nvPicPr>
          <p:cNvPr id="7" name="Image 0" descr="HCMUTE logo">    </p:cNvPr>
          <p:cNvPicPr>
            <a:picLocks noChangeAspect="1"/>
          </p:cNvPicPr>
          <p:nvPr/>
        </p:nvPicPr>
        <p:blipFill>
          <a:blip r:embed="rId1"/>
          <a:srcRect l="0" r="0" t="-129" b="-129"/>
          <a:stretch/>
        </p:blipFill>
        <p:spPr>
          <a:xfrm>
            <a:off x="5683250" y="381000"/>
            <a:ext cx="825500" cy="819150"/>
          </a:xfrm>
          <a:prstGeom prst="rect">
            <a:avLst/>
          </a:prstGeom>
        </p:spPr>
      </p:pic>
      <p:sp>
        <p:nvSpPr>
          <p:cNvPr id="8" name="Text 5"/>
          <p:cNvSpPr/>
          <p:nvPr/>
        </p:nvSpPr>
        <p:spPr>
          <a:xfrm>
            <a:off x="1602591" y="1314450"/>
            <a:ext cx="8986718" cy="284460"/>
          </a:xfrm>
          <a:prstGeom prst="rect">
            <a:avLst/>
          </a:prstGeom>
          <a:noFill/>
          <a:ln/>
        </p:spPr>
        <p:txBody>
          <a:bodyPr wrap="square" lIns="0" tIns="0" rIns="0" bIns="0" rtlCol="0" anchor="t">
            <a:normAutofit/>
          </a:bodyPr>
          <a:lstStyle/>
          <a:p>
            <a:pPr algn="ctr" indent="0" marL="0">
              <a:lnSpc>
                <a:spcPts val="2040"/>
              </a:lnSpc>
              <a:buNone/>
            </a:pPr>
            <a:r>
              <a:rPr lang="en-US" sz="17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700" dirty="0"/>
          </a:p>
        </p:txBody>
      </p:sp>
      <p:sp>
        <p:nvSpPr>
          <p:cNvPr id="9" name="Text 6"/>
          <p:cNvSpPr/>
          <p:nvPr/>
        </p:nvSpPr>
        <p:spPr>
          <a:xfrm>
            <a:off x="4009797" y="1687810"/>
            <a:ext cx="4172307" cy="238720"/>
          </a:xfrm>
          <a:prstGeom prst="rect">
            <a:avLst/>
          </a:prstGeom>
          <a:noFill/>
          <a:ln/>
        </p:spPr>
        <p:txBody>
          <a:bodyPr wrap="square" lIns="0" tIns="0" rIns="0" bIns="0" rtlCol="0" anchor="t">
            <a:normAutofit/>
          </a:bodyPr>
          <a:lstStyle/>
          <a:p>
            <a:pPr algn="ctr" indent="0" marL="0">
              <a:lnSpc>
                <a:spcPts val="1680"/>
              </a:lnSpc>
              <a:buNone/>
            </a:pPr>
            <a:r>
              <a:rPr lang="en-US" sz="1400" b="1" spc="100" kern="0" dirty="0">
                <a:solidFill>
                  <a:srgbClr val="0A2E6E"/>
                </a:solidFill>
                <a:latin typeface="Be Vietnam Pro" pitchFamily="34" charset="0"/>
                <a:ea typeface="Be Vietnam Pro" pitchFamily="34" charset="-122"/>
                <a:cs typeface="Be Vietnam Pro" pitchFamily="34" charset="-120"/>
              </a:rPr>
              <a:t>FACULTY OF ADVANCED TRAINING</a:t>
            </a:r>
            <a:endParaRPr lang="en-US" sz="1400" dirty="0"/>
          </a:p>
        </p:txBody>
      </p:sp>
      <p:sp>
        <p:nvSpPr>
          <p:cNvPr id="10" name="Shape 7"/>
          <p:cNvSpPr/>
          <p:nvPr/>
        </p:nvSpPr>
        <p:spPr>
          <a:xfrm>
            <a:off x="5334000" y="2015430"/>
            <a:ext cx="1524000" cy="25400"/>
          </a:xfrm>
          <a:prstGeom prst="rect">
            <a:avLst/>
          </a:prstGeom>
          <a:solidFill>
            <a:srgbClr val="C8102E"/>
          </a:solidFill>
          <a:ln/>
        </p:spPr>
      </p:sp>
      <p:sp>
        <p:nvSpPr>
          <p:cNvPr id="11" name="Text 8"/>
          <p:cNvSpPr/>
          <p:nvPr/>
        </p:nvSpPr>
        <p:spPr>
          <a:xfrm>
            <a:off x="2749034" y="2155130"/>
            <a:ext cx="6693932" cy="254000"/>
          </a:xfrm>
          <a:prstGeom prst="rect">
            <a:avLst/>
          </a:prstGeom>
          <a:noFill/>
          <a:ln/>
        </p:spPr>
        <p:txBody>
          <a:bodyPr wrap="square" lIns="0" tIns="0" rIns="0" bIns="0" rtlCol="0" anchor="t">
            <a:normAutofit/>
          </a:bodyPr>
          <a:lstStyle/>
          <a:p>
            <a:pPr algn="ctr" indent="0" marL="0">
              <a:lnSpc>
                <a:spcPts val="1800"/>
              </a:lnSpc>
              <a:buNone/>
            </a:pPr>
            <a:r>
              <a:rPr lang="en-US" sz="1500" b="1" spc="200" kern="0" dirty="0">
                <a:solidFill>
                  <a:srgbClr val="C8102E"/>
                </a:solidFill>
                <a:latin typeface="Be Vietnam Pro" pitchFamily="34" charset="0"/>
                <a:ea typeface="Be Vietnam Pro" pitchFamily="34" charset="-122"/>
                <a:cs typeface="Be Vietnam Pro" pitchFamily="34" charset="-120"/>
              </a:rPr>
              <a:t>FINAL REPORT · COURSE: EMBEDDED SYSTEMS</a:t>
            </a:r>
            <a:endParaRPr lang="en-US" sz="1500" dirty="0"/>
          </a:p>
        </p:txBody>
      </p:sp>
      <p:sp>
        <p:nvSpPr>
          <p:cNvPr id="12" name="Text 9"/>
          <p:cNvSpPr/>
          <p:nvPr>
            <p:ph type="title"/>
          </p:nvPr>
        </p:nvSpPr>
        <p:spPr>
          <a:xfrm>
            <a:off x="863600" y="2498030"/>
            <a:ext cx="10464800" cy="1208286"/>
          </a:xfrm>
          <a:prstGeom prst="rect">
            <a:avLst/>
          </a:prstGeom>
          <a:noFill/>
          <a:ln/>
        </p:spPr>
        <p:txBody>
          <a:bodyPr wrap="square" lIns="0" tIns="0" rIns="0" bIns="0" rtlCol="0" anchor="t">
            <a:normAutofit/>
          </a:bodyPr>
          <a:lstStyle/>
          <a:p>
            <a:pPr algn="ctr" indent="0" marL="0">
              <a:lnSpc>
                <a:spcPts val="3105"/>
              </a:lnSpc>
              <a:buNone/>
            </a:pPr>
            <a:r>
              <a:rPr lang="en-US" sz="2700" b="1" i="0" dirty="0">
                <a:solidFill>
                  <a:srgbClr val="0A2E6E"/>
                </a:solidFill>
                <a:latin typeface="Be Vietnam Pro" pitchFamily="34" charset="0"/>
                <a:ea typeface="Be Vietnam Pro" pitchFamily="34" charset="-122"/>
                <a:cs typeface="Be Vietnam Pro" pitchFamily="34" charset="-120"/>
              </a:rPr>
              <a:t>Building Embedded Linux with Yocto on Raspberry Pi 4, Deploying Hardware-Accelerated Edge AI and Developing a Device Driver</a:t>
            </a:r>
            <a:endParaRPr lang="en-US" sz="2700" dirty="0"/>
          </a:p>
        </p:txBody>
      </p:sp>
      <p:sp>
        <p:nvSpPr>
          <p:cNvPr id="13" name="Text 10"/>
          <p:cNvSpPr/>
          <p:nvPr/>
        </p:nvSpPr>
        <p:spPr>
          <a:xfrm>
            <a:off x="5473898" y="3795216"/>
            <a:ext cx="1244203" cy="269180"/>
          </a:xfrm>
          <a:prstGeom prst="rect">
            <a:avLst/>
          </a:prstGeom>
          <a:noFill/>
          <a:ln/>
        </p:spPr>
        <p:txBody>
          <a:bodyPr wrap="square" lIns="0" tIns="0" rIns="0" bIns="0" rtlCol="0" anchor="t">
            <a:normAutofit/>
          </a:bodyPr>
          <a:lstStyle/>
          <a:p>
            <a:pPr algn="ctr" indent="0" marL="0">
              <a:lnSpc>
                <a:spcPts val="1920"/>
              </a:lnSpc>
              <a:buNone/>
            </a:pPr>
            <a:r>
              <a:rPr lang="en-US" sz="1600" b="1" spc="100" kern="0" dirty="0">
                <a:solidFill>
                  <a:srgbClr val="16181D"/>
                </a:solidFill>
                <a:latin typeface="Be Vietnam Pro" pitchFamily="34" charset="0"/>
                <a:ea typeface="Be Vietnam Pro" pitchFamily="34" charset="-122"/>
                <a:cs typeface="Be Vietnam Pro" pitchFamily="34" charset="-120"/>
              </a:rPr>
              <a:t>GROUP 4</a:t>
            </a:r>
            <a:endParaRPr lang="en-US" sz="1600" dirty="0"/>
          </a:p>
        </p:txBody>
      </p:sp>
      <p:sp>
        <p:nvSpPr>
          <p:cNvPr id="14" name="Text 11"/>
          <p:cNvSpPr/>
          <p:nvPr/>
        </p:nvSpPr>
        <p:spPr>
          <a:xfrm>
            <a:off x="3206750" y="4153297"/>
            <a:ext cx="125730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81D"/>
                </a:solidFill>
                <a:latin typeface="Be Vietnam Pro" pitchFamily="34" charset="0"/>
                <a:ea typeface="Be Vietnam Pro" pitchFamily="34" charset="-122"/>
                <a:cs typeface="Be Vietnam Pro" pitchFamily="34" charset="-120"/>
              </a:rPr>
              <a:t>Supervisor:</a:t>
            </a:r>
            <a:endParaRPr lang="en-US" sz="1300" dirty="0"/>
          </a:p>
        </p:txBody>
      </p:sp>
      <p:sp>
        <p:nvSpPr>
          <p:cNvPr id="15" name="Text 12"/>
          <p:cNvSpPr/>
          <p:nvPr/>
        </p:nvSpPr>
        <p:spPr>
          <a:xfrm>
            <a:off x="4413250" y="4153297"/>
            <a:ext cx="26162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M.Sc. Huỳnh Hoàng Hà</a:t>
            </a:r>
            <a:endParaRPr lang="en-US" sz="1300" dirty="0"/>
          </a:p>
        </p:txBody>
      </p:sp>
      <p:sp>
        <p:nvSpPr>
          <p:cNvPr id="16" name="Text 13"/>
          <p:cNvSpPr/>
          <p:nvPr/>
        </p:nvSpPr>
        <p:spPr>
          <a:xfrm>
            <a:off x="3206750" y="4414242"/>
            <a:ext cx="125730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81D"/>
                </a:solidFill>
                <a:latin typeface="Be Vietnam Pro" pitchFamily="34" charset="0"/>
                <a:ea typeface="Be Vietnam Pro" pitchFamily="34" charset="-122"/>
                <a:cs typeface="Be Vietnam Pro" pitchFamily="34" charset="-120"/>
              </a:rPr>
              <a:t>Students:</a:t>
            </a:r>
            <a:endParaRPr lang="en-US" sz="1300" dirty="0"/>
          </a:p>
        </p:txBody>
      </p:sp>
      <p:sp>
        <p:nvSpPr>
          <p:cNvPr id="17" name="Text 14"/>
          <p:cNvSpPr/>
          <p:nvPr/>
        </p:nvSpPr>
        <p:spPr>
          <a:xfrm>
            <a:off x="4413250" y="4414242"/>
            <a:ext cx="26162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Đỗ Gia Bảo</a:t>
            </a:r>
            <a:endParaRPr lang="en-US" sz="1300" dirty="0"/>
          </a:p>
        </p:txBody>
      </p:sp>
      <p:sp>
        <p:nvSpPr>
          <p:cNvPr id="18" name="Text 15"/>
          <p:cNvSpPr/>
          <p:nvPr/>
        </p:nvSpPr>
        <p:spPr>
          <a:xfrm>
            <a:off x="6953250" y="4414242"/>
            <a:ext cx="209296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Student ID: 23161046</a:t>
            </a:r>
            <a:endParaRPr lang="en-US" sz="1300" dirty="0"/>
          </a:p>
        </p:txBody>
      </p:sp>
      <p:sp>
        <p:nvSpPr>
          <p:cNvPr id="19" name="Text 16"/>
          <p:cNvSpPr/>
          <p:nvPr/>
        </p:nvSpPr>
        <p:spPr>
          <a:xfrm>
            <a:off x="4413250" y="4675188"/>
            <a:ext cx="26162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Tô Quốc Hiệp</a:t>
            </a:r>
            <a:endParaRPr lang="en-US" sz="1300" dirty="0"/>
          </a:p>
        </p:txBody>
      </p:sp>
      <p:sp>
        <p:nvSpPr>
          <p:cNvPr id="20" name="Text 17"/>
          <p:cNvSpPr/>
          <p:nvPr/>
        </p:nvSpPr>
        <p:spPr>
          <a:xfrm>
            <a:off x="6953250" y="4675188"/>
            <a:ext cx="209296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Student ID: 22161050</a:t>
            </a:r>
            <a:endParaRPr lang="en-US" sz="1300" dirty="0"/>
          </a:p>
        </p:txBody>
      </p:sp>
      <p:sp>
        <p:nvSpPr>
          <p:cNvPr id="21" name="Text 18"/>
          <p:cNvSpPr/>
          <p:nvPr/>
        </p:nvSpPr>
        <p:spPr>
          <a:xfrm>
            <a:off x="4413250" y="4936133"/>
            <a:ext cx="26162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Nguyễn Đoàn Hoàng Ngân</a:t>
            </a:r>
            <a:endParaRPr lang="en-US" sz="1300" dirty="0"/>
          </a:p>
        </p:txBody>
      </p:sp>
      <p:sp>
        <p:nvSpPr>
          <p:cNvPr id="22" name="Text 19"/>
          <p:cNvSpPr/>
          <p:nvPr/>
        </p:nvSpPr>
        <p:spPr>
          <a:xfrm>
            <a:off x="6953250" y="4936133"/>
            <a:ext cx="209296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Student ID: 24119064</a:t>
            </a:r>
            <a:endParaRPr lang="en-US" sz="1300" dirty="0"/>
          </a:p>
        </p:txBody>
      </p:sp>
      <p:sp>
        <p:nvSpPr>
          <p:cNvPr id="23" name="Text 20"/>
          <p:cNvSpPr/>
          <p:nvPr/>
        </p:nvSpPr>
        <p:spPr>
          <a:xfrm>
            <a:off x="4413250" y="5197078"/>
            <a:ext cx="26162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Đặng Nguyễn Nam Nhật</a:t>
            </a:r>
            <a:endParaRPr lang="en-US" sz="1300" dirty="0"/>
          </a:p>
        </p:txBody>
      </p:sp>
      <p:sp>
        <p:nvSpPr>
          <p:cNvPr id="24" name="Text 21"/>
          <p:cNvSpPr/>
          <p:nvPr/>
        </p:nvSpPr>
        <p:spPr>
          <a:xfrm>
            <a:off x="6953250" y="5197078"/>
            <a:ext cx="209296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Student ID: 22119022</a:t>
            </a:r>
            <a:endParaRPr lang="en-US" sz="1300" dirty="0"/>
          </a:p>
        </p:txBody>
      </p:sp>
      <p:sp>
        <p:nvSpPr>
          <p:cNvPr id="25" name="Text 22"/>
          <p:cNvSpPr/>
          <p:nvPr/>
        </p:nvSpPr>
        <p:spPr>
          <a:xfrm>
            <a:off x="4413250" y="5458023"/>
            <a:ext cx="261620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Tô Ngọc Thảo Uyên</a:t>
            </a:r>
            <a:endParaRPr lang="en-US" sz="1300" dirty="0"/>
          </a:p>
        </p:txBody>
      </p:sp>
      <p:sp>
        <p:nvSpPr>
          <p:cNvPr id="26" name="Text 23"/>
          <p:cNvSpPr/>
          <p:nvPr/>
        </p:nvSpPr>
        <p:spPr>
          <a:xfrm>
            <a:off x="6953250" y="5458023"/>
            <a:ext cx="209296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6181D"/>
                </a:solidFill>
                <a:latin typeface="Be Vietnam Pro" pitchFamily="34" charset="0"/>
                <a:ea typeface="Be Vietnam Pro" pitchFamily="34" charset="-122"/>
                <a:cs typeface="Be Vietnam Pro" pitchFamily="34" charset="-120"/>
              </a:rPr>
              <a:t>Student ID: 24119098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Team and task assignment</a:t>
            </a:r>
            <a:endParaRPr lang="en-US" sz="2800" dirty="0"/>
          </a:p>
        </p:txBody>
      </p:sp>
      <p:sp>
        <p:nvSpPr>
          <p:cNvPr id="8" name="Text 5"/>
          <p:cNvSpPr/>
          <p:nvPr/>
        </p:nvSpPr>
        <p:spPr>
          <a:xfrm>
            <a:off x="812800" y="20090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6181D"/>
                </a:solidFill>
                <a:latin typeface="Be Vietnam Pro" pitchFamily="34" charset="0"/>
                <a:ea typeface="Be Vietnam Pro" pitchFamily="34" charset="-122"/>
                <a:cs typeface="Be Vietnam Pro" pitchFamily="34" charset="-120"/>
              </a:rPr>
              <a:t>Supervisor:</a:t>
            </a:r>
            <a:r>
              <a:rPr lang="en-US" sz="1500" dirty="0">
                <a:solidFill>
                  <a:srgbClr val="16181D"/>
                </a:solidFill>
                <a:latin typeface="Be Vietnam Pro" pitchFamily="34" charset="0"/>
                <a:ea typeface="Be Vietnam Pro" pitchFamily="34" charset="-122"/>
                <a:cs typeface="Be Vietnam Pro" pitchFamily="34" charset="-120"/>
              </a:rPr>
              <a:t> M.Sc. Huỳnh Hoàng Hà</a:t>
            </a:r>
            <a:endParaRPr lang="en-US" sz="1500" dirty="0"/>
          </a:p>
        </p:txBody>
      </p:sp>
      <p:sp>
        <p:nvSpPr>
          <p:cNvPr id="9" name="Shape 6"/>
          <p:cNvSpPr/>
          <p:nvPr/>
        </p:nvSpPr>
        <p:spPr>
          <a:xfrm>
            <a:off x="11372850" y="2504380"/>
            <a:ext cx="0" cy="2341166"/>
          </a:xfrm>
          <a:prstGeom prst="line">
            <a:avLst/>
          </a:prstGeom>
          <a:noFill/>
          <a:ln w="12700">
            <a:solidFill>
              <a:srgbClr val="111111"/>
            </a:solidFill>
            <a:prstDash val="solid"/>
          </a:ln>
        </p:spPr>
      </p:sp>
      <p:sp>
        <p:nvSpPr>
          <p:cNvPr id="10" name="Shape 7"/>
          <p:cNvSpPr/>
          <p:nvPr/>
        </p:nvSpPr>
        <p:spPr>
          <a:xfrm>
            <a:off x="812800" y="4839196"/>
            <a:ext cx="10566400" cy="0"/>
          </a:xfrm>
          <a:prstGeom prst="line">
            <a:avLst/>
          </a:prstGeom>
          <a:noFill/>
          <a:ln w="12700">
            <a:solidFill>
              <a:srgbClr val="111111"/>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2517080"/>
          <a:ext cx="10541000" cy="2315766"/>
        </p:xfrm>
        <a:graphic>
          <a:graphicData uri="http://schemas.openxmlformats.org/drawingml/2006/table">
            <a:tbl>
              <a:tblPr/>
              <a:tblGrid>
                <a:gridCol w="843280"/>
                <a:gridCol w="3373120"/>
                <a:gridCol w="1897380"/>
                <a:gridCol w="4427220"/>
              </a:tblGrid>
              <a:tr h="385961">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No.</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Full name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Student ID</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Role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1</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Đỗ Gia Bảo</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23161046</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Virtualization, QEMU emulation</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2</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Tô Quốc Hiệp</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22161050</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Embedded co-developer</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3</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Nguyễn Đoàn Hoàng Ngân</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24119064</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Device driver development, report writing</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4</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Đặng Nguyễn Nam Nhật</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22119022</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Team leader</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5</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Tô Ngọc Thảo Uyên</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24119098</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Device driver development</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Outline</a:t>
            </a:r>
            <a:endParaRPr lang="en-US" sz="2800" dirty="0"/>
          </a:p>
        </p:txBody>
      </p:sp>
      <p:sp>
        <p:nvSpPr>
          <p:cNvPr id="8" name="Text 5"/>
          <p:cNvSpPr/>
          <p:nvPr/>
        </p:nvSpPr>
        <p:spPr>
          <a:xfrm>
            <a:off x="812800" y="2123281"/>
            <a:ext cx="6604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8102E"/>
                </a:solidFill>
                <a:latin typeface="Be Vietnam Pro" pitchFamily="34" charset="0"/>
                <a:ea typeface="Be Vietnam Pro" pitchFamily="34" charset="-122"/>
                <a:cs typeface="Be Vietnam Pro" pitchFamily="34" charset="-120"/>
              </a:rPr>
              <a:t>01</a:t>
            </a:r>
            <a:endParaRPr lang="en-US" sz="2200" dirty="0"/>
          </a:p>
        </p:txBody>
      </p:sp>
      <p:sp>
        <p:nvSpPr>
          <p:cNvPr id="9" name="Shape 6"/>
          <p:cNvSpPr/>
          <p:nvPr/>
        </p:nvSpPr>
        <p:spPr>
          <a:xfrm>
            <a:off x="1625600" y="2622352"/>
            <a:ext cx="9753600" cy="0"/>
          </a:xfrm>
          <a:prstGeom prst="line">
            <a:avLst/>
          </a:prstGeom>
          <a:noFill/>
          <a:ln w="12700">
            <a:solidFill>
              <a:srgbClr val="D5DAE3"/>
            </a:solidFill>
            <a:prstDash val="solid"/>
          </a:ln>
        </p:spPr>
      </p:sp>
      <p:sp>
        <p:nvSpPr>
          <p:cNvPr id="10" name="Text 7"/>
          <p:cNvSpPr/>
          <p:nvPr/>
        </p:nvSpPr>
        <p:spPr>
          <a:xfrm>
            <a:off x="1625600" y="2009080"/>
            <a:ext cx="100462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2E6E"/>
                </a:solidFill>
                <a:latin typeface="Be Vietnam Pro" pitchFamily="34" charset="0"/>
                <a:ea typeface="Be Vietnam Pro" pitchFamily="34" charset="-122"/>
                <a:cs typeface="Be Vietnam Pro" pitchFamily="34" charset="-120"/>
              </a:rPr>
              <a:t>Overview</a:t>
            </a:r>
            <a:endParaRPr lang="en-US" sz="1800" dirty="0"/>
          </a:p>
        </p:txBody>
      </p:sp>
      <p:sp>
        <p:nvSpPr>
          <p:cNvPr id="11" name="Text 8"/>
          <p:cNvSpPr/>
          <p:nvPr/>
        </p:nvSpPr>
        <p:spPr>
          <a:xfrm>
            <a:off x="1625600" y="2296021"/>
            <a:ext cx="100462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05C"/>
                </a:solidFill>
                <a:latin typeface="Be Vietnam Pro" pitchFamily="34" charset="0"/>
                <a:ea typeface="Be Vietnam Pro" pitchFamily="34" charset="-122"/>
                <a:cs typeface="Be Vietnam Pro" pitchFamily="34" charset="-120"/>
              </a:rPr>
              <a:t>Problem, constraints of embedded systems, research questions and scope</a:t>
            </a:r>
            <a:endParaRPr lang="en-US" sz="1300" dirty="0"/>
          </a:p>
        </p:txBody>
      </p:sp>
      <p:sp>
        <p:nvSpPr>
          <p:cNvPr id="12" name="Text 9"/>
          <p:cNvSpPr/>
          <p:nvPr/>
        </p:nvSpPr>
        <p:spPr>
          <a:xfrm>
            <a:off x="812800" y="2882602"/>
            <a:ext cx="6604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8102E"/>
                </a:solidFill>
                <a:latin typeface="Be Vietnam Pro" pitchFamily="34" charset="0"/>
                <a:ea typeface="Be Vietnam Pro" pitchFamily="34" charset="-122"/>
                <a:cs typeface="Be Vietnam Pro" pitchFamily="34" charset="-120"/>
              </a:rPr>
              <a:t>02</a:t>
            </a:r>
            <a:endParaRPr lang="en-US" sz="2200" dirty="0"/>
          </a:p>
        </p:txBody>
      </p:sp>
      <p:sp>
        <p:nvSpPr>
          <p:cNvPr id="13" name="Shape 10"/>
          <p:cNvSpPr/>
          <p:nvPr/>
        </p:nvSpPr>
        <p:spPr>
          <a:xfrm>
            <a:off x="1625600" y="3381673"/>
            <a:ext cx="9753600" cy="0"/>
          </a:xfrm>
          <a:prstGeom prst="line">
            <a:avLst/>
          </a:prstGeom>
          <a:noFill/>
          <a:ln w="12700">
            <a:solidFill>
              <a:srgbClr val="D5DAE3"/>
            </a:solidFill>
            <a:prstDash val="solid"/>
          </a:ln>
        </p:spPr>
      </p:sp>
      <p:sp>
        <p:nvSpPr>
          <p:cNvPr id="14" name="Text 11"/>
          <p:cNvSpPr/>
          <p:nvPr/>
        </p:nvSpPr>
        <p:spPr>
          <a:xfrm>
            <a:off x="1625600" y="2768402"/>
            <a:ext cx="100462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2E6E"/>
                </a:solidFill>
                <a:latin typeface="Be Vietnam Pro" pitchFamily="34" charset="0"/>
                <a:ea typeface="Be Vietnam Pro" pitchFamily="34" charset="-122"/>
                <a:cs typeface="Be Vietnam Pro" pitchFamily="34" charset="-120"/>
              </a:rPr>
              <a:t>Background</a:t>
            </a:r>
            <a:endParaRPr lang="en-US" sz="1800" dirty="0"/>
          </a:p>
        </p:txBody>
      </p:sp>
      <p:sp>
        <p:nvSpPr>
          <p:cNvPr id="15" name="Text 12"/>
          <p:cNvSpPr/>
          <p:nvPr/>
        </p:nvSpPr>
        <p:spPr>
          <a:xfrm>
            <a:off x="1625600" y="3055342"/>
            <a:ext cx="100462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05C"/>
                </a:solidFill>
                <a:latin typeface="Be Vietnam Pro" pitchFamily="34" charset="0"/>
                <a:ea typeface="Be Vietnam Pro" pitchFamily="34" charset="-122"/>
                <a:cs typeface="Be Vietnam Pro" pitchFamily="34" charset="-120"/>
              </a:rPr>
              <a:t>The 7-stage, GPU-first boot process of the Raspberry Pi 4</a:t>
            </a:r>
            <a:endParaRPr lang="en-US" sz="1300" dirty="0"/>
          </a:p>
        </p:txBody>
      </p:sp>
      <p:sp>
        <p:nvSpPr>
          <p:cNvPr id="16" name="Text 13"/>
          <p:cNvSpPr/>
          <p:nvPr/>
        </p:nvSpPr>
        <p:spPr>
          <a:xfrm>
            <a:off x="812800" y="3641923"/>
            <a:ext cx="6604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8102E"/>
                </a:solidFill>
                <a:latin typeface="Be Vietnam Pro" pitchFamily="34" charset="0"/>
                <a:ea typeface="Be Vietnam Pro" pitchFamily="34" charset="-122"/>
                <a:cs typeface="Be Vietnam Pro" pitchFamily="34" charset="-120"/>
              </a:rPr>
              <a:t>03</a:t>
            </a:r>
            <a:endParaRPr lang="en-US" sz="2200" dirty="0"/>
          </a:p>
        </p:txBody>
      </p:sp>
      <p:sp>
        <p:nvSpPr>
          <p:cNvPr id="17" name="Shape 14"/>
          <p:cNvSpPr/>
          <p:nvPr/>
        </p:nvSpPr>
        <p:spPr>
          <a:xfrm>
            <a:off x="1625600" y="4140994"/>
            <a:ext cx="9753600" cy="0"/>
          </a:xfrm>
          <a:prstGeom prst="line">
            <a:avLst/>
          </a:prstGeom>
          <a:noFill/>
          <a:ln w="12700">
            <a:solidFill>
              <a:srgbClr val="D5DAE3"/>
            </a:solidFill>
            <a:prstDash val="solid"/>
          </a:ln>
        </p:spPr>
      </p:sp>
      <p:sp>
        <p:nvSpPr>
          <p:cNvPr id="18" name="Text 15"/>
          <p:cNvSpPr/>
          <p:nvPr/>
        </p:nvSpPr>
        <p:spPr>
          <a:xfrm>
            <a:off x="1625600" y="3527723"/>
            <a:ext cx="100462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2E6E"/>
                </a:solidFill>
                <a:latin typeface="Be Vietnam Pro" pitchFamily="34" charset="0"/>
                <a:ea typeface="Be Vietnam Pro" pitchFamily="34" charset="-122"/>
                <a:cs typeface="Be Vietnam Pro" pitchFamily="34" charset="-120"/>
              </a:rPr>
              <a:t>System design and implementation</a:t>
            </a:r>
            <a:endParaRPr lang="en-US" sz="1800" dirty="0"/>
          </a:p>
        </p:txBody>
      </p:sp>
      <p:sp>
        <p:nvSpPr>
          <p:cNvPr id="19" name="Text 16"/>
          <p:cNvSpPr/>
          <p:nvPr/>
        </p:nvSpPr>
        <p:spPr>
          <a:xfrm>
            <a:off x="1625600" y="3814663"/>
            <a:ext cx="100462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05C"/>
                </a:solidFill>
                <a:latin typeface="Be Vietnam Pro" pitchFamily="34" charset="0"/>
                <a:ea typeface="Be Vietnam Pro" pitchFamily="34" charset="-122"/>
                <a:cs typeface="Be Vietnam Pro" pitchFamily="34" charset="-120"/>
              </a:rPr>
              <a:t>Yocto build for the Raspberry Pi 4, Edge AI software stack, mychardev driver on QEMU</a:t>
            </a:r>
            <a:endParaRPr lang="en-US" sz="1300" dirty="0"/>
          </a:p>
        </p:txBody>
      </p:sp>
      <p:sp>
        <p:nvSpPr>
          <p:cNvPr id="20" name="Text 17"/>
          <p:cNvSpPr/>
          <p:nvPr/>
        </p:nvSpPr>
        <p:spPr>
          <a:xfrm>
            <a:off x="812800" y="4401245"/>
            <a:ext cx="6604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8102E"/>
                </a:solidFill>
                <a:latin typeface="Be Vietnam Pro" pitchFamily="34" charset="0"/>
                <a:ea typeface="Be Vietnam Pro" pitchFamily="34" charset="-122"/>
                <a:cs typeface="Be Vietnam Pro" pitchFamily="34" charset="-120"/>
              </a:rPr>
              <a:t>04</a:t>
            </a:r>
            <a:endParaRPr lang="en-US" sz="2200" dirty="0"/>
          </a:p>
        </p:txBody>
      </p:sp>
      <p:sp>
        <p:nvSpPr>
          <p:cNvPr id="21" name="Shape 18"/>
          <p:cNvSpPr/>
          <p:nvPr/>
        </p:nvSpPr>
        <p:spPr>
          <a:xfrm>
            <a:off x="1625600" y="4900315"/>
            <a:ext cx="9753600" cy="0"/>
          </a:xfrm>
          <a:prstGeom prst="line">
            <a:avLst/>
          </a:prstGeom>
          <a:noFill/>
          <a:ln w="12700">
            <a:solidFill>
              <a:srgbClr val="D5DAE3"/>
            </a:solidFill>
            <a:prstDash val="solid"/>
          </a:ln>
        </p:spPr>
      </p:sp>
      <p:sp>
        <p:nvSpPr>
          <p:cNvPr id="22" name="Text 19"/>
          <p:cNvSpPr/>
          <p:nvPr/>
        </p:nvSpPr>
        <p:spPr>
          <a:xfrm>
            <a:off x="1625600" y="4287044"/>
            <a:ext cx="100462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2E6E"/>
                </a:solidFill>
                <a:latin typeface="Be Vietnam Pro" pitchFamily="34" charset="0"/>
                <a:ea typeface="Be Vietnam Pro" pitchFamily="34" charset="-122"/>
                <a:cs typeface="Be Vietnam Pro" pitchFamily="34" charset="-120"/>
              </a:rPr>
              <a:t>Experimental results and evaluation</a:t>
            </a:r>
            <a:endParaRPr lang="en-US" sz="1800" dirty="0"/>
          </a:p>
        </p:txBody>
      </p:sp>
      <p:sp>
        <p:nvSpPr>
          <p:cNvPr id="23" name="Text 20"/>
          <p:cNvSpPr/>
          <p:nvPr/>
        </p:nvSpPr>
        <p:spPr>
          <a:xfrm>
            <a:off x="1625600" y="4573984"/>
            <a:ext cx="100462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05C"/>
                </a:solidFill>
                <a:latin typeface="Be Vietnam Pro" pitchFamily="34" charset="0"/>
                <a:ea typeface="Be Vietnam Pro" pitchFamily="34" charset="-122"/>
                <a:cs typeface="Be Vietnam Pro" pitchFamily="34" charset="-120"/>
              </a:rPr>
              <a:t>C vs Python, multi-core scaling, 1,000-image benchmark, bottleneck, driver tests</a:t>
            </a:r>
            <a:endParaRPr lang="en-US" sz="1300" dirty="0"/>
          </a:p>
        </p:txBody>
      </p:sp>
      <p:sp>
        <p:nvSpPr>
          <p:cNvPr id="24" name="Text 21"/>
          <p:cNvSpPr/>
          <p:nvPr/>
        </p:nvSpPr>
        <p:spPr>
          <a:xfrm>
            <a:off x="812800" y="5154216"/>
            <a:ext cx="6604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8102E"/>
                </a:solidFill>
                <a:latin typeface="Be Vietnam Pro" pitchFamily="34" charset="0"/>
                <a:ea typeface="Be Vietnam Pro" pitchFamily="34" charset="-122"/>
                <a:cs typeface="Be Vietnam Pro" pitchFamily="34" charset="-120"/>
              </a:rPr>
              <a:t>05</a:t>
            </a:r>
            <a:endParaRPr lang="en-US" sz="2200" dirty="0"/>
          </a:p>
        </p:txBody>
      </p:sp>
      <p:sp>
        <p:nvSpPr>
          <p:cNvPr id="25" name="Text 22"/>
          <p:cNvSpPr/>
          <p:nvPr/>
        </p:nvSpPr>
        <p:spPr>
          <a:xfrm>
            <a:off x="1625600" y="5046365"/>
            <a:ext cx="100462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A2E6E"/>
                </a:solidFill>
                <a:latin typeface="Be Vietnam Pro" pitchFamily="34" charset="0"/>
                <a:ea typeface="Be Vietnam Pro" pitchFamily="34" charset="-122"/>
                <a:cs typeface="Be Vietnam Pro" pitchFamily="34" charset="-120"/>
              </a:rPr>
              <a:t>Conclusion and future work</a:t>
            </a:r>
            <a:endParaRPr lang="en-US" sz="1800" dirty="0"/>
          </a:p>
        </p:txBody>
      </p:sp>
      <p:sp>
        <p:nvSpPr>
          <p:cNvPr id="26" name="Text 23"/>
          <p:cNvSpPr/>
          <p:nvPr/>
        </p:nvSpPr>
        <p:spPr>
          <a:xfrm>
            <a:off x="1625600" y="5333305"/>
            <a:ext cx="1004620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05C"/>
                </a:solidFill>
                <a:latin typeface="Be Vietnam Pro" pitchFamily="34" charset="0"/>
                <a:ea typeface="Be Vietnam Pro" pitchFamily="34" charset="-122"/>
                <a:cs typeface="Be Vietnam Pro" pitchFamily="34" charset="-120"/>
              </a:rPr>
              <a:t>What was achieved, limitations and next steps</a:t>
            </a:r>
            <a:endParaRPr lang="en-US" sz="1300" dirty="0"/>
          </a:p>
        </p:txBody>
      </p:sp>
      <p:sp>
        <p:nvSpPr>
          <p:cNvPr id="27" name="Text 2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28"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Problem and research questions</a:t>
            </a:r>
            <a:endParaRPr lang="en-US" sz="2800" dirty="0"/>
          </a:p>
        </p:txBody>
      </p:sp>
      <p:sp>
        <p:nvSpPr>
          <p:cNvPr id="8" name="Text 5"/>
          <p:cNvSpPr/>
          <p:nvPr/>
        </p:nvSpPr>
        <p:spPr>
          <a:xfrm>
            <a:off x="812800" y="2009080"/>
            <a:ext cx="4970780"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8102E"/>
                </a:solidFill>
                <a:latin typeface="Be Vietnam Pro" pitchFamily="34" charset="0"/>
                <a:ea typeface="Be Vietnam Pro" pitchFamily="34" charset="-122"/>
                <a:cs typeface="Be Vietnam Pro" pitchFamily="34" charset="-120"/>
              </a:rPr>
              <a:t>CONSTRAINTS OF EDGE HARDWARE</a:t>
            </a:r>
            <a:endParaRPr lang="en-US" sz="1300" dirty="0"/>
          </a:p>
        </p:txBody>
      </p:sp>
      <p:sp>
        <p:nvSpPr>
          <p:cNvPr id="9" name="Shape 6"/>
          <p:cNvSpPr/>
          <p:nvPr/>
        </p:nvSpPr>
        <p:spPr>
          <a:xfrm>
            <a:off x="812800" y="2367161"/>
            <a:ext cx="2349500" cy="1427163"/>
          </a:xfrm>
          <a:prstGeom prst="rect">
            <a:avLst/>
          </a:prstGeom>
          <a:solidFill>
            <a:srgbClr val="F3F5F9"/>
          </a:solidFill>
          <a:ln/>
        </p:spPr>
      </p:sp>
      <p:sp>
        <p:nvSpPr>
          <p:cNvPr id="10" name="Text 7"/>
          <p:cNvSpPr/>
          <p:nvPr/>
        </p:nvSpPr>
        <p:spPr>
          <a:xfrm>
            <a:off x="965200" y="2519561"/>
            <a:ext cx="21060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E6E"/>
                </a:solidFill>
                <a:latin typeface="Be Vietnam Pro" pitchFamily="34" charset="0"/>
                <a:ea typeface="Be Vietnam Pro" pitchFamily="34" charset="-122"/>
                <a:cs typeface="Be Vietnam Pro" pitchFamily="34" charset="-120"/>
              </a:rPr>
              <a:t>Memory scarcity</a:t>
            </a:r>
            <a:endParaRPr lang="en-US" sz="1400" dirty="0"/>
          </a:p>
        </p:txBody>
      </p:sp>
      <p:sp>
        <p:nvSpPr>
          <p:cNvPr id="11" name="Text 8"/>
          <p:cNvSpPr/>
          <p:nvPr/>
        </p:nvSpPr>
        <p:spPr>
          <a:xfrm>
            <a:off x="965200" y="2819202"/>
            <a:ext cx="2106041"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04A"/>
                </a:solidFill>
                <a:latin typeface="Be Vietnam Pro" pitchFamily="34" charset="0"/>
                <a:ea typeface="Be Vietnam Pro" pitchFamily="34" charset="-122"/>
                <a:cs typeface="Be Vietnam Pro" pitchFamily="34" charset="-120"/>
              </a:rPr>
              <a:t>Limited RAM; Python’s interpreter, dynamic types and garbage collector cost memory</a:t>
            </a:r>
            <a:endParaRPr lang="en-US" sz="1200" dirty="0"/>
          </a:p>
        </p:txBody>
      </p:sp>
      <p:sp>
        <p:nvSpPr>
          <p:cNvPr id="12" name="Shape 9"/>
          <p:cNvSpPr/>
          <p:nvPr/>
        </p:nvSpPr>
        <p:spPr>
          <a:xfrm>
            <a:off x="3289300" y="2367161"/>
            <a:ext cx="2349500" cy="1427163"/>
          </a:xfrm>
          <a:prstGeom prst="rect">
            <a:avLst/>
          </a:prstGeom>
          <a:solidFill>
            <a:srgbClr val="F3F5F9"/>
          </a:solidFill>
          <a:ln/>
        </p:spPr>
      </p:sp>
      <p:sp>
        <p:nvSpPr>
          <p:cNvPr id="13" name="Text 10"/>
          <p:cNvSpPr/>
          <p:nvPr/>
        </p:nvSpPr>
        <p:spPr>
          <a:xfrm>
            <a:off x="3441700" y="2519561"/>
            <a:ext cx="21060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E6E"/>
                </a:solidFill>
                <a:latin typeface="Be Vietnam Pro" pitchFamily="34" charset="0"/>
                <a:ea typeface="Be Vietnam Pro" pitchFamily="34" charset="-122"/>
                <a:cs typeface="Be Vietnam Pro" pitchFamily="34" charset="-120"/>
              </a:rPr>
              <a:t>Execution latency</a:t>
            </a:r>
            <a:endParaRPr lang="en-US" sz="1400" dirty="0"/>
          </a:p>
        </p:txBody>
      </p:sp>
      <p:sp>
        <p:nvSpPr>
          <p:cNvPr id="14" name="Text 11"/>
          <p:cNvSpPr/>
          <p:nvPr/>
        </p:nvSpPr>
        <p:spPr>
          <a:xfrm>
            <a:off x="3441700" y="2819202"/>
            <a:ext cx="2106041"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04A"/>
                </a:solidFill>
                <a:latin typeface="Be Vietnam Pro" pitchFamily="34" charset="0"/>
                <a:ea typeface="Be Vietnam Pro" pitchFamily="34" charset="-122"/>
                <a:cs typeface="Be Vietnam Pro" pitchFamily="34" charset="-120"/>
              </a:rPr>
              <a:t>Sensor streams need real-time rates: above 20 frames per second</a:t>
            </a:r>
            <a:endParaRPr lang="en-US" sz="1200" dirty="0"/>
          </a:p>
        </p:txBody>
      </p:sp>
      <p:sp>
        <p:nvSpPr>
          <p:cNvPr id="15" name="Shape 12"/>
          <p:cNvSpPr/>
          <p:nvPr/>
        </p:nvSpPr>
        <p:spPr>
          <a:xfrm>
            <a:off x="812800" y="3921323"/>
            <a:ext cx="2349500" cy="1427163"/>
          </a:xfrm>
          <a:prstGeom prst="rect">
            <a:avLst/>
          </a:prstGeom>
          <a:solidFill>
            <a:srgbClr val="F3F5F9"/>
          </a:solidFill>
          <a:ln/>
        </p:spPr>
      </p:sp>
      <p:sp>
        <p:nvSpPr>
          <p:cNvPr id="16" name="Text 13"/>
          <p:cNvSpPr/>
          <p:nvPr/>
        </p:nvSpPr>
        <p:spPr>
          <a:xfrm>
            <a:off x="965200" y="4073723"/>
            <a:ext cx="21060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E6E"/>
                </a:solidFill>
                <a:latin typeface="Be Vietnam Pro" pitchFamily="34" charset="0"/>
                <a:ea typeface="Be Vietnam Pro" pitchFamily="34" charset="-122"/>
                <a:cs typeface="Be Vietnam Pro" pitchFamily="34" charset="-120"/>
              </a:rPr>
              <a:t>Thermal and power</a:t>
            </a:r>
            <a:endParaRPr lang="en-US" sz="1400" dirty="0"/>
          </a:p>
        </p:txBody>
      </p:sp>
      <p:sp>
        <p:nvSpPr>
          <p:cNvPr id="17" name="Text 14"/>
          <p:cNvSpPr/>
          <p:nvPr/>
        </p:nvSpPr>
        <p:spPr>
          <a:xfrm>
            <a:off x="965200" y="4373364"/>
            <a:ext cx="2106041"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04A"/>
                </a:solidFill>
                <a:latin typeface="Be Vietnam Pro" pitchFamily="34" charset="0"/>
                <a:ea typeface="Be Vietnam Pro" pitchFamily="34" charset="-122"/>
                <a:cs typeface="Be Vietnam Pro" pitchFamily="34" charset="-120"/>
              </a:rPr>
              <a:t>Locking cores at maximum clock risks thermal throttling and hardware wear</a:t>
            </a:r>
            <a:endParaRPr lang="en-US" sz="1200" dirty="0"/>
          </a:p>
        </p:txBody>
      </p:sp>
      <p:sp>
        <p:nvSpPr>
          <p:cNvPr id="18" name="Shape 15"/>
          <p:cNvSpPr/>
          <p:nvPr/>
        </p:nvSpPr>
        <p:spPr>
          <a:xfrm>
            <a:off x="3289300" y="3921323"/>
            <a:ext cx="2349500" cy="1427163"/>
          </a:xfrm>
          <a:prstGeom prst="rect">
            <a:avLst/>
          </a:prstGeom>
          <a:solidFill>
            <a:srgbClr val="F3F5F9"/>
          </a:solidFill>
          <a:ln/>
        </p:spPr>
      </p:sp>
      <p:sp>
        <p:nvSpPr>
          <p:cNvPr id="19" name="Text 16"/>
          <p:cNvSpPr/>
          <p:nvPr/>
        </p:nvSpPr>
        <p:spPr>
          <a:xfrm>
            <a:off x="3441700" y="4073723"/>
            <a:ext cx="21060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A2E6E"/>
                </a:solidFill>
                <a:latin typeface="Be Vietnam Pro" pitchFamily="34" charset="0"/>
                <a:ea typeface="Be Vietnam Pro" pitchFamily="34" charset="-122"/>
                <a:cs typeface="Be Vietnam Pro" pitchFamily="34" charset="-120"/>
              </a:rPr>
              <a:t>Black box vs native</a:t>
            </a:r>
            <a:endParaRPr lang="en-US" sz="1400" dirty="0"/>
          </a:p>
        </p:txBody>
      </p:sp>
      <p:sp>
        <p:nvSpPr>
          <p:cNvPr id="20" name="Text 17"/>
          <p:cNvSpPr/>
          <p:nvPr/>
        </p:nvSpPr>
        <p:spPr>
          <a:xfrm>
            <a:off x="3441700" y="4373364"/>
            <a:ext cx="2106041"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04A"/>
                </a:solidFill>
                <a:latin typeface="Be Vietnam Pro" pitchFamily="34" charset="0"/>
                <a:ea typeface="Be Vietnam Pro" pitchFamily="34" charset="-122"/>
                <a:cs typeface="Be Vietnam Pro" pitchFamily="34" charset="-120"/>
              </a:rPr>
              <a:t>Treat the network as deterministic math; compare compiled C with interpreted Python</a:t>
            </a:r>
            <a:endParaRPr lang="en-US" sz="1200" dirty="0"/>
          </a:p>
        </p:txBody>
      </p:sp>
      <p:sp>
        <p:nvSpPr>
          <p:cNvPr id="21" name="Text 18"/>
          <p:cNvSpPr/>
          <p:nvPr/>
        </p:nvSpPr>
        <p:spPr>
          <a:xfrm>
            <a:off x="5994400" y="2009080"/>
            <a:ext cx="5546344"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C8102E"/>
                </a:solidFill>
                <a:latin typeface="Be Vietnam Pro" pitchFamily="34" charset="0"/>
                <a:ea typeface="Be Vietnam Pro" pitchFamily="34" charset="-122"/>
                <a:cs typeface="Be Vietnam Pro" pitchFamily="34" charset="-120"/>
              </a:rPr>
              <a:t>RESEARCH QUESTIONS</a:t>
            </a:r>
            <a:endParaRPr lang="en-US" sz="1300" dirty="0"/>
          </a:p>
        </p:txBody>
      </p:sp>
      <p:sp>
        <p:nvSpPr>
          <p:cNvPr id="22" name="Text 19"/>
          <p:cNvSpPr/>
          <p:nvPr/>
        </p:nvSpPr>
        <p:spPr>
          <a:xfrm>
            <a:off x="5994400" y="2341761"/>
            <a:ext cx="5546344" cy="69393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81D"/>
                </a:solidFill>
                <a:latin typeface="Be Vietnam Pro" pitchFamily="34" charset="0"/>
                <a:ea typeface="Be Vietnam Pro" pitchFamily="34" charset="-122"/>
                <a:cs typeface="Be Vietnam Pro" pitchFamily="34" charset="-120"/>
              </a:rPr>
              <a:t>Q1</a:t>
            </a:r>
            <a:r>
              <a:rPr lang="en-US" sz="1300" dirty="0">
                <a:solidFill>
                  <a:srgbClr val="16181D"/>
                </a:solidFill>
                <a:latin typeface="Be Vietnam Pro" pitchFamily="34" charset="0"/>
                <a:ea typeface="Be Vietnam Pro" pitchFamily="34" charset="-122"/>
                <a:cs typeface="Be Vietnam Pro" pitchFamily="34" charset="-120"/>
              </a:rPr>
              <a:t> How to build a minimal, reproducible Yocto Linux for the Raspberry Pi 4 that supports hardware debugging and an Edge AI runtime?</a:t>
            </a:r>
            <a:endParaRPr lang="en-US" sz="1300" dirty="0"/>
          </a:p>
        </p:txBody>
      </p:sp>
      <p:sp>
        <p:nvSpPr>
          <p:cNvPr id="23" name="Text 20"/>
          <p:cNvSpPr/>
          <p:nvPr/>
        </p:nvSpPr>
        <p:spPr>
          <a:xfrm>
            <a:off x="5994400" y="3111897"/>
            <a:ext cx="5546344"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81D"/>
                </a:solidFill>
                <a:latin typeface="Be Vietnam Pro" pitchFamily="34" charset="0"/>
                <a:ea typeface="Be Vietnam Pro" pitchFamily="34" charset="-122"/>
                <a:cs typeface="Be Vietnam Pro" pitchFamily="34" charset="-120"/>
              </a:rPr>
              <a:t>Q2</a:t>
            </a:r>
            <a:r>
              <a:rPr lang="en-US" sz="1300" dirty="0">
                <a:solidFill>
                  <a:srgbClr val="16181D"/>
                </a:solidFill>
                <a:latin typeface="Be Vietnam Pro" pitchFamily="34" charset="0"/>
                <a:ea typeface="Be Vietnam Pro" pitchFamily="34" charset="-122"/>
                <a:cs typeface="Be Vietnam Pro" pitchFamily="34" charset="-120"/>
              </a:rPr>
              <a:t> How does the BCM2711 boot, and how can boot time be measured and optimized?</a:t>
            </a:r>
            <a:endParaRPr lang="en-US" sz="1300" dirty="0"/>
          </a:p>
        </p:txBody>
      </p:sp>
      <p:sp>
        <p:nvSpPr>
          <p:cNvPr id="24" name="Text 21"/>
          <p:cNvSpPr/>
          <p:nvPr/>
        </p:nvSpPr>
        <p:spPr>
          <a:xfrm>
            <a:off x="5994400" y="3659187"/>
            <a:ext cx="5546344"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81D"/>
                </a:solidFill>
                <a:latin typeface="Be Vietnam Pro" pitchFamily="34" charset="0"/>
                <a:ea typeface="Be Vietnam Pro" pitchFamily="34" charset="-122"/>
                <a:cs typeface="Be Vietnam Pro" pitchFamily="34" charset="-120"/>
              </a:rPr>
              <a:t>Q3</a:t>
            </a:r>
            <a:r>
              <a:rPr lang="en-US" sz="1300" dirty="0">
                <a:solidFill>
                  <a:srgbClr val="16181D"/>
                </a:solidFill>
                <a:latin typeface="Be Vietnam Pro" pitchFamily="34" charset="0"/>
                <a:ea typeface="Be Vietnam Pro" pitchFamily="34" charset="-122"/>
                <a:cs typeface="Be Vietnam Pro" pitchFamily="34" charset="-120"/>
              </a:rPr>
              <a:t> Native C vs Python: latency, jitter and peak RSS memory?</a:t>
            </a:r>
            <a:endParaRPr lang="en-US" sz="1300" dirty="0"/>
          </a:p>
        </p:txBody>
      </p:sp>
      <p:sp>
        <p:nvSpPr>
          <p:cNvPr id="25" name="Text 22"/>
          <p:cNvSpPr/>
          <p:nvPr/>
        </p:nvSpPr>
        <p:spPr>
          <a:xfrm>
            <a:off x="5994400" y="3983633"/>
            <a:ext cx="5546344"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6181D"/>
                </a:solidFill>
                <a:latin typeface="Be Vietnam Pro" pitchFamily="34" charset="0"/>
                <a:ea typeface="Be Vietnam Pro" pitchFamily="34" charset="-122"/>
                <a:cs typeface="Be Vietnam Pro" pitchFamily="34" charset="-120"/>
              </a:rPr>
              <a:t>Q4</a:t>
            </a:r>
            <a:r>
              <a:rPr lang="en-US" sz="1300" dirty="0">
                <a:solidFill>
                  <a:srgbClr val="16181D"/>
                </a:solidFill>
                <a:latin typeface="Be Vietnam Pro" pitchFamily="34" charset="0"/>
                <a:ea typeface="Be Vietnam Pro" pitchFamily="34" charset="-122"/>
                <a:cs typeface="Be Vietnam Pro" pitchFamily="34" charset="-120"/>
              </a:rPr>
              <a:t> Can multi-core threading reach real time (above 20 fps) without retraining, and where is the bottleneck?</a:t>
            </a:r>
            <a:endParaRPr lang="en-US" sz="1300" dirty="0"/>
          </a:p>
        </p:txBody>
      </p:sp>
      <p:sp>
        <p:nvSpPr>
          <p:cNvPr id="26" name="Text 23"/>
          <p:cNvSpPr/>
          <p:nvPr/>
        </p:nvSpPr>
        <p:spPr>
          <a:xfrm>
            <a:off x="5994400" y="4530923"/>
            <a:ext cx="5546344"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A404A"/>
                </a:solidFill>
                <a:latin typeface="Be Vietnam Pro" pitchFamily="34" charset="0"/>
                <a:ea typeface="Be Vietnam Pro" pitchFamily="34" charset="-122"/>
                <a:cs typeface="Be Vietnam Pro" pitchFamily="34" charset="-120"/>
              </a:rPr>
              <a:t>Added by the instructor:</a:t>
            </a:r>
            <a:r>
              <a:rPr lang="en-US" sz="1300" dirty="0">
                <a:solidFill>
                  <a:srgbClr val="3A404A"/>
                </a:solidFill>
                <a:latin typeface="Be Vietnam Pro" pitchFamily="34" charset="0"/>
                <a:ea typeface="Be Vietnam Pro" pitchFamily="34" charset="-122"/>
                <a:cs typeface="Be Vietnam Pro" pitchFamily="34" charset="-120"/>
              </a:rPr>
              <a:t> QEMU emulation in Yocto and a custom device driver tested on QEMU.</a:t>
            </a:r>
            <a:endParaRPr lang="en-US" sz="1300" dirty="0"/>
          </a:p>
        </p:txBody>
      </p:sp>
      <p:sp>
        <p:nvSpPr>
          <p:cNvPr id="27" name="Text 2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28"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Raspberry Pi 4: the 7-stage, GPU-first boot</a:t>
            </a:r>
            <a:endParaRPr lang="en-US" sz="2800" dirty="0"/>
          </a:p>
        </p:txBody>
      </p:sp>
      <p:sp>
        <p:nvSpPr>
          <p:cNvPr id="8" name="Text 5"/>
          <p:cNvSpPr/>
          <p:nvPr/>
        </p:nvSpPr>
        <p:spPr>
          <a:xfrm>
            <a:off x="819150" y="2015430"/>
            <a:ext cx="1308100" cy="368300"/>
          </a:xfrm>
          <a:custGeom>
            <a:avLst/>
            <a:gdLst/>
            <a:ahLst/>
            <a:cxnLst/>
            <a:rect l="l" t="t" r="r" b="b"/>
            <a:pathLst>
              <a:path w="1308100" h="368300">
                <a:moveTo>
                  <a:pt x="184150" y="0"/>
                </a:moveTo>
                <a:lnTo>
                  <a:pt x="1123950" y="0"/>
                </a:lnTo>
                <a:arcTo hR="184150" wR="184150" stAng="16200000" swAng="5400000"/>
                <a:lnTo>
                  <a:pt x="1308100" y="184150"/>
                </a:lnTo>
                <a:arcTo hR="184150" wR="184150" stAng="0" swAng="5400000"/>
                <a:lnTo>
                  <a:pt x="184150" y="368300"/>
                </a:lnTo>
                <a:arcTo hR="184150" wR="184150" stAng="5400000" swAng="5400000"/>
                <a:lnTo>
                  <a:pt x="0" y="184150"/>
                </a:lnTo>
                <a:arcTo hR="184150" wR="184150" stAng="10800000" swAng="5400000"/>
                <a:close/>
              </a:path>
            </a:pathLst>
          </a:custGeom>
          <a:solidFill>
            <a:srgbClr val="FFFFFF"/>
          </a:solidFill>
          <a:ln w="12700">
            <a:solidFill>
              <a:srgbClr val="111111"/>
            </a:solidFill>
            <a:prstDash val="solid"/>
          </a:ln>
        </p:spPr>
        <p:txBody>
          <a:bodyPr wrap="square" lIns="0" tIns="6350" rIns="0"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5 V power on</a:t>
            </a:r>
            <a:endParaRPr lang="en-US" sz="1200" dirty="0"/>
          </a:p>
        </p:txBody>
      </p:sp>
      <p:sp>
        <p:nvSpPr>
          <p:cNvPr id="9" name="Shape 6"/>
          <p:cNvSpPr/>
          <p:nvPr/>
        </p:nvSpPr>
        <p:spPr>
          <a:xfrm>
            <a:off x="819150" y="2701230"/>
            <a:ext cx="1308100" cy="1511300"/>
          </a:xfrm>
          <a:prstGeom prst="rect">
            <a:avLst/>
          </a:prstGeom>
          <a:solidFill>
            <a:srgbClr val="FFFFFF"/>
          </a:solidFill>
          <a:ln w="12700">
            <a:solidFill>
              <a:srgbClr val="111111"/>
            </a:solidFill>
            <a:prstDash val="solid"/>
          </a:ln>
        </p:spPr>
      </p:sp>
      <p:sp>
        <p:nvSpPr>
          <p:cNvPr id="10" name="Text 7"/>
          <p:cNvSpPr/>
          <p:nvPr/>
        </p:nvSpPr>
        <p:spPr>
          <a:xfrm>
            <a:off x="863600" y="291971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Stage 1</a:t>
            </a:r>
            <a:endParaRPr lang="en-US" sz="1200" dirty="0"/>
          </a:p>
        </p:txBody>
      </p:sp>
      <p:sp>
        <p:nvSpPr>
          <p:cNvPr id="11" name="Text 8"/>
          <p:cNvSpPr/>
          <p:nvPr/>
        </p:nvSpPr>
        <p:spPr>
          <a:xfrm>
            <a:off x="863600" y="3171130"/>
            <a:ext cx="12192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On-chip BootROM, clock init</a:t>
            </a:r>
            <a:endParaRPr lang="en-US" sz="1200" dirty="0"/>
          </a:p>
        </p:txBody>
      </p:sp>
      <p:sp>
        <p:nvSpPr>
          <p:cNvPr id="12" name="Text 9"/>
          <p:cNvSpPr/>
          <p:nvPr/>
        </p:nvSpPr>
        <p:spPr>
          <a:xfrm>
            <a:off x="863600" y="378073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111111"/>
                </a:solidFill>
                <a:latin typeface="Be Vietnam Pro" pitchFamily="34" charset="0"/>
                <a:ea typeface="Be Vietnam Pro" pitchFamily="34" charset="-122"/>
                <a:cs typeface="Be Vietnam Pro" pitchFamily="34" charset="-120"/>
              </a:rPr>
              <a:t>GPU</a:t>
            </a:r>
            <a:endParaRPr lang="en-US" sz="1200" dirty="0"/>
          </a:p>
        </p:txBody>
      </p:sp>
      <p:sp>
        <p:nvSpPr>
          <p:cNvPr id="13" name="Shape 10"/>
          <p:cNvSpPr/>
          <p:nvPr/>
        </p:nvSpPr>
        <p:spPr>
          <a:xfrm>
            <a:off x="2355850" y="2701230"/>
            <a:ext cx="1308100" cy="1511300"/>
          </a:xfrm>
          <a:prstGeom prst="rect">
            <a:avLst/>
          </a:prstGeom>
          <a:solidFill>
            <a:srgbClr val="FFFFFF"/>
          </a:solidFill>
          <a:ln w="12700">
            <a:solidFill>
              <a:srgbClr val="111111"/>
            </a:solidFill>
            <a:prstDash val="solid"/>
          </a:ln>
        </p:spPr>
      </p:sp>
      <p:sp>
        <p:nvSpPr>
          <p:cNvPr id="14" name="Text 11"/>
          <p:cNvSpPr/>
          <p:nvPr/>
        </p:nvSpPr>
        <p:spPr>
          <a:xfrm>
            <a:off x="2400300" y="282446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Stage 2</a:t>
            </a:r>
            <a:endParaRPr lang="en-US" sz="1200" dirty="0"/>
          </a:p>
        </p:txBody>
      </p:sp>
      <p:sp>
        <p:nvSpPr>
          <p:cNvPr id="15" name="Text 12"/>
          <p:cNvSpPr/>
          <p:nvPr/>
        </p:nvSpPr>
        <p:spPr>
          <a:xfrm>
            <a:off x="2400300" y="3075880"/>
            <a:ext cx="1219200" cy="787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SPI EEPROM bootloader: LPDDR4, EMMC2/USB</a:t>
            </a:r>
            <a:endParaRPr lang="en-US" sz="1200" dirty="0"/>
          </a:p>
        </p:txBody>
      </p:sp>
      <p:sp>
        <p:nvSpPr>
          <p:cNvPr id="16" name="Text 13"/>
          <p:cNvSpPr/>
          <p:nvPr/>
        </p:nvSpPr>
        <p:spPr>
          <a:xfrm>
            <a:off x="2400300" y="387598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111111"/>
                </a:solidFill>
                <a:latin typeface="Be Vietnam Pro" pitchFamily="34" charset="0"/>
                <a:ea typeface="Be Vietnam Pro" pitchFamily="34" charset="-122"/>
                <a:cs typeface="Be Vietnam Pro" pitchFamily="34" charset="-120"/>
              </a:rPr>
              <a:t>GPU</a:t>
            </a:r>
            <a:endParaRPr lang="en-US" sz="1200" dirty="0"/>
          </a:p>
        </p:txBody>
      </p:sp>
      <p:sp>
        <p:nvSpPr>
          <p:cNvPr id="17" name="Shape 14"/>
          <p:cNvSpPr/>
          <p:nvPr/>
        </p:nvSpPr>
        <p:spPr>
          <a:xfrm>
            <a:off x="3892550" y="2701230"/>
            <a:ext cx="1308100" cy="1511300"/>
          </a:xfrm>
          <a:prstGeom prst="rect">
            <a:avLst/>
          </a:prstGeom>
          <a:solidFill>
            <a:srgbClr val="FFFFFF"/>
          </a:solidFill>
          <a:ln w="12700">
            <a:solidFill>
              <a:srgbClr val="111111"/>
            </a:solidFill>
            <a:prstDash val="solid"/>
          </a:ln>
        </p:spPr>
      </p:sp>
      <p:sp>
        <p:nvSpPr>
          <p:cNvPr id="18" name="Text 15"/>
          <p:cNvSpPr/>
          <p:nvPr/>
        </p:nvSpPr>
        <p:spPr>
          <a:xfrm>
            <a:off x="3937000" y="291971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Stage 3</a:t>
            </a:r>
            <a:endParaRPr lang="en-US" sz="1200" dirty="0"/>
          </a:p>
        </p:txBody>
      </p:sp>
      <p:sp>
        <p:nvSpPr>
          <p:cNvPr id="19" name="Text 16"/>
          <p:cNvSpPr/>
          <p:nvPr/>
        </p:nvSpPr>
        <p:spPr>
          <a:xfrm>
            <a:off x="3937000" y="3171130"/>
            <a:ext cx="12192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start4.elf, fixup4.dat memory split</a:t>
            </a:r>
            <a:endParaRPr lang="en-US" sz="1200" dirty="0"/>
          </a:p>
        </p:txBody>
      </p:sp>
      <p:sp>
        <p:nvSpPr>
          <p:cNvPr id="20" name="Text 17"/>
          <p:cNvSpPr/>
          <p:nvPr/>
        </p:nvSpPr>
        <p:spPr>
          <a:xfrm>
            <a:off x="3937000" y="378073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111111"/>
                </a:solidFill>
                <a:latin typeface="Be Vietnam Pro" pitchFamily="34" charset="0"/>
                <a:ea typeface="Be Vietnam Pro" pitchFamily="34" charset="-122"/>
                <a:cs typeface="Be Vietnam Pro" pitchFamily="34" charset="-120"/>
              </a:rPr>
              <a:t>GPU</a:t>
            </a:r>
            <a:endParaRPr lang="en-US" sz="1200" dirty="0"/>
          </a:p>
        </p:txBody>
      </p:sp>
      <p:sp>
        <p:nvSpPr>
          <p:cNvPr id="21" name="Shape 18"/>
          <p:cNvSpPr/>
          <p:nvPr/>
        </p:nvSpPr>
        <p:spPr>
          <a:xfrm>
            <a:off x="5429250" y="2701230"/>
            <a:ext cx="1308100" cy="1511300"/>
          </a:xfrm>
          <a:prstGeom prst="rect">
            <a:avLst/>
          </a:prstGeom>
          <a:solidFill>
            <a:srgbClr val="FFFFFF"/>
          </a:solidFill>
          <a:ln w="12700">
            <a:solidFill>
              <a:srgbClr val="111111"/>
            </a:solidFill>
            <a:prstDash val="solid"/>
          </a:ln>
        </p:spPr>
      </p:sp>
      <p:sp>
        <p:nvSpPr>
          <p:cNvPr id="22" name="Text 19"/>
          <p:cNvSpPr/>
          <p:nvPr/>
        </p:nvSpPr>
        <p:spPr>
          <a:xfrm>
            <a:off x="5473700" y="291971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Stage 4</a:t>
            </a:r>
            <a:endParaRPr lang="en-US" sz="1200" dirty="0"/>
          </a:p>
        </p:txBody>
      </p:sp>
      <p:sp>
        <p:nvSpPr>
          <p:cNvPr id="23" name="Text 20"/>
          <p:cNvSpPr/>
          <p:nvPr/>
        </p:nvSpPr>
        <p:spPr>
          <a:xfrm>
            <a:off x="5473700" y="3171130"/>
            <a:ext cx="12192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config.txt, DTB, zImage, cmdline.txt</a:t>
            </a:r>
            <a:endParaRPr lang="en-US" sz="1200" dirty="0"/>
          </a:p>
        </p:txBody>
      </p:sp>
      <p:sp>
        <p:nvSpPr>
          <p:cNvPr id="24" name="Text 21"/>
          <p:cNvSpPr/>
          <p:nvPr/>
        </p:nvSpPr>
        <p:spPr>
          <a:xfrm>
            <a:off x="5473700" y="378073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111111"/>
                </a:solidFill>
                <a:latin typeface="Be Vietnam Pro" pitchFamily="34" charset="0"/>
                <a:ea typeface="Be Vietnam Pro" pitchFamily="34" charset="-122"/>
                <a:cs typeface="Be Vietnam Pro" pitchFamily="34" charset="-120"/>
              </a:rPr>
              <a:t>GPU</a:t>
            </a:r>
            <a:endParaRPr lang="en-US" sz="1200" dirty="0"/>
          </a:p>
        </p:txBody>
      </p:sp>
      <p:sp>
        <p:nvSpPr>
          <p:cNvPr id="25" name="Shape 22"/>
          <p:cNvSpPr/>
          <p:nvPr/>
        </p:nvSpPr>
        <p:spPr>
          <a:xfrm>
            <a:off x="6965950" y="2701230"/>
            <a:ext cx="1308100" cy="1511300"/>
          </a:xfrm>
          <a:prstGeom prst="rect">
            <a:avLst/>
          </a:prstGeom>
          <a:solidFill>
            <a:srgbClr val="FFFFFF"/>
          </a:solidFill>
          <a:ln w="12700">
            <a:solidFill>
              <a:srgbClr val="111111"/>
            </a:solidFill>
            <a:prstDash val="solid"/>
          </a:ln>
        </p:spPr>
      </p:sp>
      <p:sp>
        <p:nvSpPr>
          <p:cNvPr id="26" name="Text 23"/>
          <p:cNvSpPr/>
          <p:nvPr/>
        </p:nvSpPr>
        <p:spPr>
          <a:xfrm>
            <a:off x="7010400" y="291971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Stage 5</a:t>
            </a:r>
            <a:endParaRPr lang="en-US" sz="1200" dirty="0"/>
          </a:p>
        </p:txBody>
      </p:sp>
      <p:sp>
        <p:nvSpPr>
          <p:cNvPr id="27" name="Text 24"/>
          <p:cNvSpPr/>
          <p:nvPr/>
        </p:nvSpPr>
        <p:spPr>
          <a:xfrm>
            <a:off x="7010400" y="3171130"/>
            <a:ext cx="12192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DTB address → r2, CPU reset released</a:t>
            </a:r>
            <a:endParaRPr lang="en-US" sz="1200" dirty="0"/>
          </a:p>
        </p:txBody>
      </p:sp>
      <p:sp>
        <p:nvSpPr>
          <p:cNvPr id="28" name="Text 25"/>
          <p:cNvSpPr/>
          <p:nvPr/>
        </p:nvSpPr>
        <p:spPr>
          <a:xfrm>
            <a:off x="7010400" y="378073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111111"/>
                </a:solidFill>
                <a:latin typeface="Be Vietnam Pro" pitchFamily="34" charset="0"/>
                <a:ea typeface="Be Vietnam Pro" pitchFamily="34" charset="-122"/>
                <a:cs typeface="Be Vietnam Pro" pitchFamily="34" charset="-120"/>
              </a:rPr>
              <a:t>GPU</a:t>
            </a:r>
            <a:endParaRPr lang="en-US" sz="1200" dirty="0"/>
          </a:p>
        </p:txBody>
      </p:sp>
      <p:sp>
        <p:nvSpPr>
          <p:cNvPr id="29" name="Shape 26"/>
          <p:cNvSpPr/>
          <p:nvPr/>
        </p:nvSpPr>
        <p:spPr>
          <a:xfrm>
            <a:off x="8502650" y="2701230"/>
            <a:ext cx="1308100" cy="1511300"/>
          </a:xfrm>
          <a:prstGeom prst="rect">
            <a:avLst/>
          </a:prstGeom>
          <a:solidFill>
            <a:srgbClr val="FFFFFF"/>
          </a:solidFill>
          <a:ln w="12700">
            <a:solidFill>
              <a:srgbClr val="111111"/>
            </a:solidFill>
            <a:prstDash val="solid"/>
          </a:ln>
        </p:spPr>
      </p:sp>
      <p:sp>
        <p:nvSpPr>
          <p:cNvPr id="30" name="Text 27"/>
          <p:cNvSpPr/>
          <p:nvPr/>
        </p:nvSpPr>
        <p:spPr>
          <a:xfrm>
            <a:off x="8547100" y="291971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Stage 6</a:t>
            </a:r>
            <a:endParaRPr lang="en-US" sz="1200" dirty="0"/>
          </a:p>
        </p:txBody>
      </p:sp>
      <p:sp>
        <p:nvSpPr>
          <p:cNvPr id="31" name="Text 28"/>
          <p:cNvSpPr/>
          <p:nvPr/>
        </p:nvSpPr>
        <p:spPr>
          <a:xfrm>
            <a:off x="8547100" y="3171130"/>
            <a:ext cx="12192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Kernel: MMU, GIC-400, drivers, rootfs</a:t>
            </a:r>
            <a:endParaRPr lang="en-US" sz="1200" dirty="0"/>
          </a:p>
        </p:txBody>
      </p:sp>
      <p:sp>
        <p:nvSpPr>
          <p:cNvPr id="32" name="Text 29"/>
          <p:cNvSpPr/>
          <p:nvPr/>
        </p:nvSpPr>
        <p:spPr>
          <a:xfrm>
            <a:off x="8547100" y="378073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111111"/>
                </a:solidFill>
                <a:latin typeface="Be Vietnam Pro" pitchFamily="34" charset="0"/>
                <a:ea typeface="Be Vietnam Pro" pitchFamily="34" charset="-122"/>
                <a:cs typeface="Be Vietnam Pro" pitchFamily="34" charset="-120"/>
              </a:rPr>
              <a:t>ARM CPU</a:t>
            </a:r>
            <a:endParaRPr lang="en-US" sz="1200" dirty="0"/>
          </a:p>
        </p:txBody>
      </p:sp>
      <p:sp>
        <p:nvSpPr>
          <p:cNvPr id="33" name="Shape 30"/>
          <p:cNvSpPr/>
          <p:nvPr/>
        </p:nvSpPr>
        <p:spPr>
          <a:xfrm>
            <a:off x="10039350" y="2701230"/>
            <a:ext cx="1308100" cy="1511300"/>
          </a:xfrm>
          <a:prstGeom prst="rect">
            <a:avLst/>
          </a:prstGeom>
          <a:solidFill>
            <a:srgbClr val="FFFFFF"/>
          </a:solidFill>
          <a:ln w="12700">
            <a:solidFill>
              <a:srgbClr val="111111"/>
            </a:solidFill>
            <a:prstDash val="solid"/>
          </a:ln>
        </p:spPr>
      </p:sp>
      <p:sp>
        <p:nvSpPr>
          <p:cNvPr id="34" name="Text 31"/>
          <p:cNvSpPr/>
          <p:nvPr/>
        </p:nvSpPr>
        <p:spPr>
          <a:xfrm>
            <a:off x="10083800" y="291971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Stage 7</a:t>
            </a:r>
            <a:endParaRPr lang="en-US" sz="1200" dirty="0"/>
          </a:p>
        </p:txBody>
      </p:sp>
      <p:sp>
        <p:nvSpPr>
          <p:cNvPr id="35" name="Text 32"/>
          <p:cNvSpPr/>
          <p:nvPr/>
        </p:nvSpPr>
        <p:spPr>
          <a:xfrm>
            <a:off x="10083800" y="3171130"/>
            <a:ext cx="1219200" cy="596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systemd PID 1, udev, getty on ttyAMA0</a:t>
            </a:r>
            <a:endParaRPr lang="en-US" sz="1200" dirty="0"/>
          </a:p>
        </p:txBody>
      </p:sp>
      <p:sp>
        <p:nvSpPr>
          <p:cNvPr id="36" name="Text 33"/>
          <p:cNvSpPr/>
          <p:nvPr/>
        </p:nvSpPr>
        <p:spPr>
          <a:xfrm>
            <a:off x="10083800" y="3780730"/>
            <a:ext cx="1219200"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111111"/>
                </a:solidFill>
                <a:latin typeface="Be Vietnam Pro" pitchFamily="34" charset="0"/>
                <a:ea typeface="Be Vietnam Pro" pitchFamily="34" charset="-122"/>
                <a:cs typeface="Be Vietnam Pro" pitchFamily="34" charset="-120"/>
              </a:rPr>
              <a:t>ARM CPU</a:t>
            </a:r>
            <a:endParaRPr lang="en-US" sz="1200" dirty="0"/>
          </a:p>
        </p:txBody>
      </p:sp>
      <p:sp>
        <p:nvSpPr>
          <p:cNvPr id="37" name="Text 34"/>
          <p:cNvSpPr/>
          <p:nvPr/>
        </p:nvSpPr>
        <p:spPr>
          <a:xfrm>
            <a:off x="10039350" y="4580830"/>
            <a:ext cx="1308100" cy="368300"/>
          </a:xfrm>
          <a:custGeom>
            <a:avLst/>
            <a:gdLst/>
            <a:ahLst/>
            <a:cxnLst/>
            <a:rect l="l" t="t" r="r" b="b"/>
            <a:pathLst>
              <a:path w="1308100" h="368300">
                <a:moveTo>
                  <a:pt x="184150" y="0"/>
                </a:moveTo>
                <a:lnTo>
                  <a:pt x="1123950" y="0"/>
                </a:lnTo>
                <a:arcTo hR="184150" wR="184150" stAng="16200000" swAng="5400000"/>
                <a:lnTo>
                  <a:pt x="1308100" y="184150"/>
                </a:lnTo>
                <a:arcTo hR="184150" wR="184150" stAng="0" swAng="5400000"/>
                <a:lnTo>
                  <a:pt x="184150" y="368300"/>
                </a:lnTo>
                <a:arcTo hR="184150" wR="184150" stAng="5400000" swAng="5400000"/>
                <a:lnTo>
                  <a:pt x="0" y="184150"/>
                </a:lnTo>
                <a:arcTo hR="184150" wR="184150" stAng="10800000" swAng="5400000"/>
                <a:close/>
              </a:path>
            </a:pathLst>
          </a:custGeom>
          <a:solidFill>
            <a:srgbClr val="FFFFFF"/>
          </a:solidFill>
          <a:ln w="12700">
            <a:solidFill>
              <a:srgbClr val="111111"/>
            </a:solidFill>
            <a:prstDash val="solid"/>
          </a:ln>
        </p:spPr>
        <p:txBody>
          <a:bodyPr wrap="square" lIns="0" tIns="6350" rIns="0"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Login prompt</a:t>
            </a:r>
            <a:endParaRPr lang="en-US" sz="1200" dirty="0"/>
          </a:p>
        </p:txBody>
      </p:sp>
      <p:pic>
        <p:nvPicPr>
          <p:cNvPr id="38" name="Image 1" descr="connector">    </p:cNvPr>
          <p:cNvPicPr>
            <a:picLocks noChangeAspect="1"/>
          </p:cNvPicPr>
          <p:nvPr/>
        </p:nvPicPr>
        <p:blipFill>
          <a:blip r:embed="rId2"/>
          <a:srcRect l="0" r="0" t="0" b="0"/>
          <a:stretch/>
        </p:blipFill>
        <p:spPr>
          <a:xfrm>
            <a:off x="1435100" y="2351980"/>
            <a:ext cx="76200" cy="381000"/>
          </a:xfrm>
          <a:prstGeom prst="rect">
            <a:avLst/>
          </a:prstGeom>
        </p:spPr>
      </p:pic>
      <p:pic>
        <p:nvPicPr>
          <p:cNvPr id="39" name="Image 2" descr="connector">    </p:cNvPr>
          <p:cNvPicPr>
            <a:picLocks noChangeAspect="1"/>
          </p:cNvPicPr>
          <p:nvPr/>
        </p:nvPicPr>
        <p:blipFill>
          <a:blip r:embed="rId3"/>
          <a:srcRect l="0" r="0" t="0" b="0"/>
          <a:stretch/>
        </p:blipFill>
        <p:spPr>
          <a:xfrm>
            <a:off x="2095500" y="3418780"/>
            <a:ext cx="292100" cy="76200"/>
          </a:xfrm>
          <a:prstGeom prst="rect">
            <a:avLst/>
          </a:prstGeom>
        </p:spPr>
      </p:pic>
      <p:pic>
        <p:nvPicPr>
          <p:cNvPr id="40" name="Image 3" descr="connector">    </p:cNvPr>
          <p:cNvPicPr>
            <a:picLocks noChangeAspect="1"/>
          </p:cNvPicPr>
          <p:nvPr/>
        </p:nvPicPr>
        <p:blipFill>
          <a:blip r:embed="rId4"/>
          <a:srcRect l="0" r="0" t="0" b="0"/>
          <a:stretch/>
        </p:blipFill>
        <p:spPr>
          <a:xfrm>
            <a:off x="3632200" y="3418780"/>
            <a:ext cx="292100" cy="76200"/>
          </a:xfrm>
          <a:prstGeom prst="rect">
            <a:avLst/>
          </a:prstGeom>
        </p:spPr>
      </p:pic>
      <p:pic>
        <p:nvPicPr>
          <p:cNvPr id="41" name="Image 4" descr="connector">    </p:cNvPr>
          <p:cNvPicPr>
            <a:picLocks noChangeAspect="1"/>
          </p:cNvPicPr>
          <p:nvPr/>
        </p:nvPicPr>
        <p:blipFill>
          <a:blip r:embed="rId5"/>
          <a:srcRect l="0" r="0" t="0" b="0"/>
          <a:stretch/>
        </p:blipFill>
        <p:spPr>
          <a:xfrm>
            <a:off x="5168900" y="3418780"/>
            <a:ext cx="292100" cy="76200"/>
          </a:xfrm>
          <a:prstGeom prst="rect">
            <a:avLst/>
          </a:prstGeom>
        </p:spPr>
      </p:pic>
      <p:pic>
        <p:nvPicPr>
          <p:cNvPr id="42" name="Image 5" descr="connector">    </p:cNvPr>
          <p:cNvPicPr>
            <a:picLocks noChangeAspect="1"/>
          </p:cNvPicPr>
          <p:nvPr/>
        </p:nvPicPr>
        <p:blipFill>
          <a:blip r:embed="rId6"/>
          <a:srcRect l="0" r="0" t="0" b="0"/>
          <a:stretch/>
        </p:blipFill>
        <p:spPr>
          <a:xfrm>
            <a:off x="6705600" y="3418780"/>
            <a:ext cx="292100" cy="76200"/>
          </a:xfrm>
          <a:prstGeom prst="rect">
            <a:avLst/>
          </a:prstGeom>
        </p:spPr>
      </p:pic>
      <p:pic>
        <p:nvPicPr>
          <p:cNvPr id="43" name="Image 6" descr="connector">    </p:cNvPr>
          <p:cNvPicPr>
            <a:picLocks noChangeAspect="1"/>
          </p:cNvPicPr>
          <p:nvPr/>
        </p:nvPicPr>
        <p:blipFill>
          <a:blip r:embed="rId7"/>
          <a:srcRect l="0" r="0" t="0" b="0"/>
          <a:stretch/>
        </p:blipFill>
        <p:spPr>
          <a:xfrm>
            <a:off x="8242300" y="3418780"/>
            <a:ext cx="292100" cy="76200"/>
          </a:xfrm>
          <a:prstGeom prst="rect">
            <a:avLst/>
          </a:prstGeom>
        </p:spPr>
      </p:pic>
      <p:pic>
        <p:nvPicPr>
          <p:cNvPr id="44" name="Image 7" descr="connector">    </p:cNvPr>
          <p:cNvPicPr>
            <a:picLocks noChangeAspect="1"/>
          </p:cNvPicPr>
          <p:nvPr/>
        </p:nvPicPr>
        <p:blipFill>
          <a:blip r:embed="rId8"/>
          <a:srcRect l="0" r="0" t="0" b="0"/>
          <a:stretch/>
        </p:blipFill>
        <p:spPr>
          <a:xfrm>
            <a:off x="9779000" y="3418780"/>
            <a:ext cx="292100" cy="76200"/>
          </a:xfrm>
          <a:prstGeom prst="rect">
            <a:avLst/>
          </a:prstGeom>
        </p:spPr>
      </p:pic>
      <p:pic>
        <p:nvPicPr>
          <p:cNvPr id="45" name="Image 8" descr="connector">    </p:cNvPr>
          <p:cNvPicPr>
            <a:picLocks noChangeAspect="1"/>
          </p:cNvPicPr>
          <p:nvPr/>
        </p:nvPicPr>
        <p:blipFill>
          <a:blip r:embed="rId9"/>
          <a:srcRect l="0" r="0" t="0" b="0"/>
          <a:stretch/>
        </p:blipFill>
        <p:spPr>
          <a:xfrm>
            <a:off x="10655300" y="4180780"/>
            <a:ext cx="76200" cy="431800"/>
          </a:xfrm>
          <a:prstGeom prst="rect">
            <a:avLst/>
          </a:prstGeom>
        </p:spPr>
      </p:pic>
      <p:sp>
        <p:nvSpPr>
          <p:cNvPr id="46" name="Text 35"/>
          <p:cNvSpPr/>
          <p:nvPr/>
        </p:nvSpPr>
        <p:spPr>
          <a:xfrm>
            <a:off x="812800" y="5184080"/>
            <a:ext cx="108833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Unlike an x86 PC, the </a:t>
            </a:r>
            <a:r>
              <a:rPr lang="en-US" sz="1400" b="1" dirty="0">
                <a:solidFill>
                  <a:srgbClr val="3A404A"/>
                </a:solidFill>
                <a:latin typeface="Be Vietnam Pro" pitchFamily="34" charset="0"/>
                <a:ea typeface="Be Vietnam Pro" pitchFamily="34" charset="-122"/>
                <a:cs typeface="Be Vietnam Pro" pitchFamily="34" charset="-120"/>
              </a:rPr>
              <a:t>VideoCore VI GPU</a:t>
            </a:r>
            <a:r>
              <a:rPr lang="en-US" sz="1400" dirty="0">
                <a:solidFill>
                  <a:srgbClr val="3A404A"/>
                </a:solidFill>
                <a:latin typeface="Be Vietnam Pro" pitchFamily="34" charset="0"/>
                <a:ea typeface="Be Vietnam Pro" pitchFamily="34" charset="-122"/>
                <a:cs typeface="Be Vietnam Pro" pitchFamily="34" charset="-120"/>
              </a:rPr>
              <a:t> runs Stages 1–5 while the Cortex-A72 cores are held in reset; Stage 5 hands the board over to the </a:t>
            </a:r>
            <a:r>
              <a:rPr lang="en-US" sz="1400" b="1" dirty="0">
                <a:solidFill>
                  <a:srgbClr val="3A404A"/>
                </a:solidFill>
                <a:latin typeface="Be Vietnam Pro" pitchFamily="34" charset="0"/>
                <a:ea typeface="Be Vietnam Pro" pitchFamily="34" charset="-122"/>
                <a:cs typeface="Be Vietnam Pro" pitchFamily="34" charset="-120"/>
              </a:rPr>
              <a:t>ARM CPU</a:t>
            </a:r>
            <a:r>
              <a:rPr lang="en-US" sz="1400" dirty="0">
                <a:solidFill>
                  <a:srgbClr val="3A404A"/>
                </a:solidFill>
                <a:latin typeface="Be Vietnam Pro" pitchFamily="34" charset="0"/>
                <a:ea typeface="Be Vietnam Pro" pitchFamily="34" charset="-122"/>
                <a:cs typeface="Be Vietnam Pro" pitchFamily="34" charset="-120"/>
              </a:rPr>
              <a:t>.</a:t>
            </a:r>
            <a:endParaRPr lang="en-US" sz="1400" dirty="0"/>
          </a:p>
        </p:txBody>
      </p:sp>
      <p:sp>
        <p:nvSpPr>
          <p:cNvPr id="47" name="Text 3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48" name="Text 3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Building Yocto Linux for the Raspberry Pi 4</a:t>
            </a:r>
            <a:endParaRPr lang="en-US" sz="2800" dirty="0"/>
          </a:p>
        </p:txBody>
      </p:sp>
      <p:sp>
        <p:nvSpPr>
          <p:cNvPr id="8" name="Shape 5"/>
          <p:cNvSpPr/>
          <p:nvPr/>
        </p:nvSpPr>
        <p:spPr>
          <a:xfrm>
            <a:off x="819150" y="1990030"/>
            <a:ext cx="2324100" cy="1054100"/>
          </a:xfrm>
          <a:prstGeom prst="rect">
            <a:avLst/>
          </a:prstGeom>
          <a:solidFill>
            <a:srgbClr val="FFFFFF"/>
          </a:solidFill>
          <a:ln w="12700">
            <a:solidFill>
              <a:srgbClr val="111111"/>
            </a:solidFill>
            <a:prstDash val="solid"/>
          </a:ln>
        </p:spPr>
      </p:sp>
      <p:sp>
        <p:nvSpPr>
          <p:cNvPr id="9" name="Text 6"/>
          <p:cNvSpPr/>
          <p:nvPr/>
        </p:nvSpPr>
        <p:spPr>
          <a:xfrm>
            <a:off x="927100" y="22008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1. Prepare host</a:t>
            </a:r>
            <a:endParaRPr lang="en-US" sz="1200" dirty="0"/>
          </a:p>
        </p:txBody>
      </p:sp>
      <p:sp>
        <p:nvSpPr>
          <p:cNvPr id="10" name="Text 7"/>
          <p:cNvSpPr/>
          <p:nvPr/>
        </p:nvSpPr>
        <p:spPr>
          <a:xfrm>
            <a:off x="927100" y="2452291"/>
            <a:ext cx="2171446"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apt install build deps; locale-gen en_US.UTF-8</a:t>
            </a:r>
            <a:endParaRPr lang="en-US" sz="1200" dirty="0"/>
          </a:p>
        </p:txBody>
      </p:sp>
      <p:sp>
        <p:nvSpPr>
          <p:cNvPr id="11" name="Shape 8"/>
          <p:cNvSpPr/>
          <p:nvPr/>
        </p:nvSpPr>
        <p:spPr>
          <a:xfrm>
            <a:off x="3562350" y="1990030"/>
            <a:ext cx="2324100" cy="1054100"/>
          </a:xfrm>
          <a:prstGeom prst="rect">
            <a:avLst/>
          </a:prstGeom>
          <a:solidFill>
            <a:srgbClr val="FFFFFF"/>
          </a:solidFill>
          <a:ln w="12700">
            <a:solidFill>
              <a:srgbClr val="111111"/>
            </a:solidFill>
            <a:prstDash val="solid"/>
          </a:ln>
        </p:spPr>
      </p:sp>
      <p:sp>
        <p:nvSpPr>
          <p:cNvPr id="12" name="Text 9"/>
          <p:cNvSpPr/>
          <p:nvPr/>
        </p:nvSpPr>
        <p:spPr>
          <a:xfrm>
            <a:off x="3670300" y="22008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2. Fetch sources</a:t>
            </a:r>
            <a:endParaRPr lang="en-US" sz="1200" dirty="0"/>
          </a:p>
        </p:txBody>
      </p:sp>
      <p:sp>
        <p:nvSpPr>
          <p:cNvPr id="13" name="Text 10"/>
          <p:cNvSpPr/>
          <p:nvPr/>
        </p:nvSpPr>
        <p:spPr>
          <a:xfrm>
            <a:off x="3670300" y="2452291"/>
            <a:ext cx="2171446"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git clone -b scarthgap: Poky + meta-raspberrypi</a:t>
            </a:r>
            <a:endParaRPr lang="en-US" sz="1200" dirty="0"/>
          </a:p>
        </p:txBody>
      </p:sp>
      <p:sp>
        <p:nvSpPr>
          <p:cNvPr id="14" name="Shape 11"/>
          <p:cNvSpPr/>
          <p:nvPr/>
        </p:nvSpPr>
        <p:spPr>
          <a:xfrm>
            <a:off x="6305550" y="1990030"/>
            <a:ext cx="2324100" cy="1054100"/>
          </a:xfrm>
          <a:prstGeom prst="rect">
            <a:avLst/>
          </a:prstGeom>
          <a:solidFill>
            <a:srgbClr val="FFFFFF"/>
          </a:solidFill>
          <a:ln w="12700">
            <a:solidFill>
              <a:srgbClr val="111111"/>
            </a:solidFill>
            <a:prstDash val="solid"/>
          </a:ln>
        </p:spPr>
      </p:sp>
      <p:sp>
        <p:nvSpPr>
          <p:cNvPr id="15" name="Text 12"/>
          <p:cNvSpPr/>
          <p:nvPr/>
        </p:nvSpPr>
        <p:spPr>
          <a:xfrm>
            <a:off x="6413500" y="21056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3. Configure</a:t>
            </a:r>
            <a:endParaRPr lang="en-US" sz="1200" dirty="0"/>
          </a:p>
        </p:txBody>
      </p:sp>
      <p:sp>
        <p:nvSpPr>
          <p:cNvPr id="16" name="Text 13"/>
          <p:cNvSpPr/>
          <p:nvPr/>
        </p:nvSpPr>
        <p:spPr>
          <a:xfrm>
            <a:off x="6413500" y="2357041"/>
            <a:ext cx="2171446"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local.conf: MACHINE, INIT_MANAGER, ENABLE_UART, rm_work</a:t>
            </a:r>
            <a:endParaRPr lang="en-US" sz="1200" dirty="0"/>
          </a:p>
        </p:txBody>
      </p:sp>
      <p:sp>
        <p:nvSpPr>
          <p:cNvPr id="17" name="Shape 14"/>
          <p:cNvSpPr/>
          <p:nvPr/>
        </p:nvSpPr>
        <p:spPr>
          <a:xfrm>
            <a:off x="9048750" y="1990030"/>
            <a:ext cx="2324100" cy="1054100"/>
          </a:xfrm>
          <a:prstGeom prst="rect">
            <a:avLst/>
          </a:prstGeom>
          <a:solidFill>
            <a:srgbClr val="FFFFFF"/>
          </a:solidFill>
          <a:ln w="12700">
            <a:solidFill>
              <a:srgbClr val="111111"/>
            </a:solidFill>
            <a:prstDash val="solid"/>
          </a:ln>
        </p:spPr>
      </p:sp>
      <p:sp>
        <p:nvSpPr>
          <p:cNvPr id="18" name="Text 15"/>
          <p:cNvSpPr/>
          <p:nvPr/>
        </p:nvSpPr>
        <p:spPr>
          <a:xfrm>
            <a:off x="9156700" y="22008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4. Build image</a:t>
            </a:r>
            <a:endParaRPr lang="en-US" sz="1200" dirty="0"/>
          </a:p>
        </p:txBody>
      </p:sp>
      <p:sp>
        <p:nvSpPr>
          <p:cNvPr id="19" name="Text 16"/>
          <p:cNvSpPr/>
          <p:nvPr/>
        </p:nvSpPr>
        <p:spPr>
          <a:xfrm>
            <a:off x="9156700" y="2452291"/>
            <a:ext cx="2171446"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bitbake core-image-base (5,806 tasks)</a:t>
            </a:r>
            <a:endParaRPr lang="en-US" sz="1200" dirty="0"/>
          </a:p>
        </p:txBody>
      </p:sp>
      <p:sp>
        <p:nvSpPr>
          <p:cNvPr id="20" name="Shape 17"/>
          <p:cNvSpPr/>
          <p:nvPr/>
        </p:nvSpPr>
        <p:spPr>
          <a:xfrm>
            <a:off x="9048750" y="3564830"/>
            <a:ext cx="2324100" cy="1054100"/>
          </a:xfrm>
          <a:prstGeom prst="rect">
            <a:avLst/>
          </a:prstGeom>
          <a:solidFill>
            <a:srgbClr val="FFFFFF"/>
          </a:solidFill>
          <a:ln w="12700">
            <a:solidFill>
              <a:srgbClr val="111111"/>
            </a:solidFill>
            <a:prstDash val="solid"/>
          </a:ln>
        </p:spPr>
      </p:sp>
      <p:sp>
        <p:nvSpPr>
          <p:cNvPr id="21" name="Text 18"/>
          <p:cNvSpPr/>
          <p:nvPr/>
        </p:nvSpPr>
        <p:spPr>
          <a:xfrm>
            <a:off x="9156700" y="36804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5. Inspect image</a:t>
            </a:r>
            <a:endParaRPr lang="en-US" sz="1200" dirty="0"/>
          </a:p>
        </p:txBody>
      </p:sp>
      <p:sp>
        <p:nvSpPr>
          <p:cNvPr id="22" name="Text 19"/>
          <p:cNvSpPr/>
          <p:nvPr/>
        </p:nvSpPr>
        <p:spPr>
          <a:xfrm>
            <a:off x="9156700" y="3931841"/>
            <a:ext cx="2171446" cy="596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bzcat → .wic (329 MB); losetup + mount the 2 partitions</a:t>
            </a:r>
            <a:endParaRPr lang="en-US" sz="1200" dirty="0"/>
          </a:p>
        </p:txBody>
      </p:sp>
      <p:sp>
        <p:nvSpPr>
          <p:cNvPr id="23" name="Shape 20"/>
          <p:cNvSpPr/>
          <p:nvPr/>
        </p:nvSpPr>
        <p:spPr>
          <a:xfrm>
            <a:off x="6305550" y="3564830"/>
            <a:ext cx="2324100" cy="1054100"/>
          </a:xfrm>
          <a:prstGeom prst="rect">
            <a:avLst/>
          </a:prstGeom>
          <a:solidFill>
            <a:srgbClr val="FFFFFF"/>
          </a:solidFill>
          <a:ln w="12700">
            <a:solidFill>
              <a:srgbClr val="111111"/>
            </a:solidFill>
            <a:prstDash val="solid"/>
          </a:ln>
        </p:spPr>
      </p:sp>
      <p:sp>
        <p:nvSpPr>
          <p:cNvPr id="24" name="Text 21"/>
          <p:cNvSpPr/>
          <p:nvPr/>
        </p:nvSpPr>
        <p:spPr>
          <a:xfrm>
            <a:off x="6413500" y="37756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6. Write SD card</a:t>
            </a:r>
            <a:endParaRPr lang="en-US" sz="1200" dirty="0"/>
          </a:p>
        </p:txBody>
      </p:sp>
      <p:sp>
        <p:nvSpPr>
          <p:cNvPr id="25" name="Text 22"/>
          <p:cNvSpPr/>
          <p:nvPr/>
        </p:nvSpPr>
        <p:spPr>
          <a:xfrm>
            <a:off x="6413500" y="4027091"/>
            <a:ext cx="2171446"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dd bs=4M conv=fsync, then sync</a:t>
            </a:r>
            <a:endParaRPr lang="en-US" sz="1200" dirty="0"/>
          </a:p>
        </p:txBody>
      </p:sp>
      <p:sp>
        <p:nvSpPr>
          <p:cNvPr id="26" name="Shape 23"/>
          <p:cNvSpPr/>
          <p:nvPr/>
        </p:nvSpPr>
        <p:spPr>
          <a:xfrm>
            <a:off x="3562350" y="3564830"/>
            <a:ext cx="2324100" cy="1054100"/>
          </a:xfrm>
          <a:prstGeom prst="rect">
            <a:avLst/>
          </a:prstGeom>
          <a:solidFill>
            <a:srgbClr val="FFFFFF"/>
          </a:solidFill>
          <a:ln w="12700">
            <a:solidFill>
              <a:srgbClr val="111111"/>
            </a:solidFill>
            <a:prstDash val="solid"/>
          </a:ln>
        </p:spPr>
      </p:sp>
      <p:sp>
        <p:nvSpPr>
          <p:cNvPr id="27" name="Text 24"/>
          <p:cNvSpPr/>
          <p:nvPr/>
        </p:nvSpPr>
        <p:spPr>
          <a:xfrm>
            <a:off x="3670300" y="3775670"/>
            <a:ext cx="217144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7. Boot and debug</a:t>
            </a:r>
            <a:endParaRPr lang="en-US" sz="1200" dirty="0"/>
          </a:p>
        </p:txBody>
      </p:sp>
      <p:sp>
        <p:nvSpPr>
          <p:cNvPr id="28" name="Text 25"/>
          <p:cNvSpPr/>
          <p:nvPr/>
        </p:nvSpPr>
        <p:spPr>
          <a:xfrm>
            <a:off x="3670300" y="4027091"/>
            <a:ext cx="2171446"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UART on GPIO 14/15, picocom at 115,200 baud</a:t>
            </a:r>
            <a:endParaRPr lang="en-US" sz="1200" dirty="0"/>
          </a:p>
        </p:txBody>
      </p:sp>
      <p:pic>
        <p:nvPicPr>
          <p:cNvPr id="29" name="Image 1" descr="connector">    </p:cNvPr>
          <p:cNvPicPr>
            <a:picLocks noChangeAspect="1"/>
          </p:cNvPicPr>
          <p:nvPr/>
        </p:nvPicPr>
        <p:blipFill>
          <a:blip r:embed="rId2"/>
          <a:srcRect l="0" r="0" t="0" b="0"/>
          <a:stretch/>
        </p:blipFill>
        <p:spPr>
          <a:xfrm>
            <a:off x="3111500" y="2478980"/>
            <a:ext cx="482600" cy="76200"/>
          </a:xfrm>
          <a:prstGeom prst="rect">
            <a:avLst/>
          </a:prstGeom>
        </p:spPr>
      </p:pic>
      <p:pic>
        <p:nvPicPr>
          <p:cNvPr id="30" name="Image 2" descr="connector">    </p:cNvPr>
          <p:cNvPicPr>
            <a:picLocks noChangeAspect="1"/>
          </p:cNvPicPr>
          <p:nvPr/>
        </p:nvPicPr>
        <p:blipFill>
          <a:blip r:embed="rId3"/>
          <a:srcRect l="0" r="0" t="0" b="0"/>
          <a:stretch/>
        </p:blipFill>
        <p:spPr>
          <a:xfrm>
            <a:off x="5854700" y="2478980"/>
            <a:ext cx="482600" cy="76200"/>
          </a:xfrm>
          <a:prstGeom prst="rect">
            <a:avLst/>
          </a:prstGeom>
        </p:spPr>
      </p:pic>
      <p:pic>
        <p:nvPicPr>
          <p:cNvPr id="31" name="Image 3" descr="connector">    </p:cNvPr>
          <p:cNvPicPr>
            <a:picLocks noChangeAspect="1"/>
          </p:cNvPicPr>
          <p:nvPr/>
        </p:nvPicPr>
        <p:blipFill>
          <a:blip r:embed="rId4"/>
          <a:srcRect l="0" r="0" t="0" b="0"/>
          <a:stretch/>
        </p:blipFill>
        <p:spPr>
          <a:xfrm>
            <a:off x="8597900" y="2478980"/>
            <a:ext cx="482600" cy="76200"/>
          </a:xfrm>
          <a:prstGeom prst="rect">
            <a:avLst/>
          </a:prstGeom>
        </p:spPr>
      </p:pic>
      <p:pic>
        <p:nvPicPr>
          <p:cNvPr id="32" name="Image 4" descr="connector">    </p:cNvPr>
          <p:cNvPicPr>
            <a:picLocks noChangeAspect="1"/>
          </p:cNvPicPr>
          <p:nvPr/>
        </p:nvPicPr>
        <p:blipFill>
          <a:blip r:embed="rId5"/>
          <a:srcRect l="0" r="0" t="0" b="0"/>
          <a:stretch/>
        </p:blipFill>
        <p:spPr>
          <a:xfrm>
            <a:off x="10172700" y="3012380"/>
            <a:ext cx="76200" cy="584200"/>
          </a:xfrm>
          <a:prstGeom prst="rect">
            <a:avLst/>
          </a:prstGeom>
        </p:spPr>
      </p:pic>
      <p:pic>
        <p:nvPicPr>
          <p:cNvPr id="33" name="Image 5" descr="connector">    </p:cNvPr>
          <p:cNvPicPr>
            <a:picLocks noChangeAspect="1"/>
          </p:cNvPicPr>
          <p:nvPr/>
        </p:nvPicPr>
        <p:blipFill>
          <a:blip r:embed="rId6"/>
          <a:srcRect l="0" r="0" t="0" b="0"/>
          <a:stretch/>
        </p:blipFill>
        <p:spPr>
          <a:xfrm>
            <a:off x="8597900" y="4053780"/>
            <a:ext cx="482600" cy="76200"/>
          </a:xfrm>
          <a:prstGeom prst="rect">
            <a:avLst/>
          </a:prstGeom>
        </p:spPr>
      </p:pic>
      <p:pic>
        <p:nvPicPr>
          <p:cNvPr id="34" name="Image 6" descr="connector">    </p:cNvPr>
          <p:cNvPicPr>
            <a:picLocks noChangeAspect="1"/>
          </p:cNvPicPr>
          <p:nvPr/>
        </p:nvPicPr>
        <p:blipFill>
          <a:blip r:embed="rId7"/>
          <a:srcRect l="0" r="0" t="0" b="0"/>
          <a:stretch/>
        </p:blipFill>
        <p:spPr>
          <a:xfrm>
            <a:off x="5854700" y="4053780"/>
            <a:ext cx="482600" cy="76200"/>
          </a:xfrm>
          <a:prstGeom prst="rect">
            <a:avLst/>
          </a:prstGeom>
        </p:spPr>
      </p:pic>
      <p:sp>
        <p:nvSpPr>
          <p:cNvPr id="35" name="Shape 26"/>
          <p:cNvSpPr/>
          <p:nvPr/>
        </p:nvSpPr>
        <p:spPr>
          <a:xfrm>
            <a:off x="11372850" y="4828480"/>
            <a:ext cx="0" cy="903883"/>
          </a:xfrm>
          <a:prstGeom prst="line">
            <a:avLst/>
          </a:prstGeom>
          <a:noFill/>
          <a:ln w="12700">
            <a:solidFill>
              <a:srgbClr val="111111"/>
            </a:solidFill>
            <a:prstDash val="solid"/>
          </a:ln>
        </p:spPr>
      </p:sp>
      <p:sp>
        <p:nvSpPr>
          <p:cNvPr id="36" name="Shape 27"/>
          <p:cNvSpPr/>
          <p:nvPr/>
        </p:nvSpPr>
        <p:spPr>
          <a:xfrm>
            <a:off x="812800" y="5726013"/>
            <a:ext cx="10566400" cy="0"/>
          </a:xfrm>
          <a:prstGeom prst="line">
            <a:avLst/>
          </a:prstGeom>
          <a:noFill/>
          <a:ln w="12700">
            <a:solidFill>
              <a:srgbClr val="111111"/>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825500" y="4841180"/>
          <a:ext cx="10541000" cy="878483"/>
        </p:xfrm>
        <a:graphic>
          <a:graphicData uri="http://schemas.openxmlformats.org/drawingml/2006/table">
            <a:tbl>
              <a:tblPr/>
              <a:tblGrid>
                <a:gridCol w="1897380"/>
                <a:gridCol w="1264920"/>
                <a:gridCol w="1686560"/>
                <a:gridCol w="1475740"/>
                <a:gridCol w="1475740"/>
                <a:gridCol w="1054100"/>
                <a:gridCol w="1686560"/>
              </a:tblGrid>
              <a:tr h="332581">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Build system</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Tasks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Build size</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Disk image</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Kernel</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Init</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RAM when idle</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45902">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Poky 5.0.20 “Scarthgap” (LTS)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5,806, all succeeded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~28 GB with rm_work</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329 MB WIC, 2 partitions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6.6.63-v7l, ARMv7l SMP</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systemd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~55 MB of ~3.9 GB</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38" name="Text 2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39"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Edge AI software stack on the Raspberry Pi 4</a:t>
            </a:r>
            <a:endParaRPr lang="en-US" sz="2800" dirty="0"/>
          </a:p>
        </p:txBody>
      </p:sp>
      <p:sp>
        <p:nvSpPr>
          <p:cNvPr id="8" name="Text 5"/>
          <p:cNvSpPr/>
          <p:nvPr/>
        </p:nvSpPr>
        <p:spPr>
          <a:xfrm>
            <a:off x="819150" y="2015430"/>
            <a:ext cx="6337300" cy="546100"/>
          </a:xfrm>
          <a:prstGeom prst="rect">
            <a:avLst/>
          </a:prstGeom>
          <a:solidFill>
            <a:srgbClr val="FFFFFF"/>
          </a:solidFill>
          <a:ln w="12700">
            <a:solidFill>
              <a:srgbClr val="111111"/>
            </a:solidFill>
            <a:prstDash val="solid"/>
          </a:ln>
        </p:spPr>
        <p:txBody>
          <a:bodyPr wrap="square" lIns="0" tIns="69850" rIns="0" bIns="69850" rtlCol="0" anchor="ctr">
            <a:normAutofit/>
          </a:bodyPr>
          <a:lstStyle/>
          <a:p>
            <a:pPr algn="ctr" indent="0" marL="0">
              <a:lnSpc>
                <a:spcPts val="1500"/>
              </a:lnSpc>
              <a:buNone/>
            </a:pPr>
            <a:r>
              <a:rPr lang="en-US" sz="1200" b="1" dirty="0">
                <a:solidFill>
                  <a:srgbClr val="111111"/>
                </a:solidFill>
                <a:latin typeface="Be Vietnam Pro" pitchFamily="34" charset="0"/>
                <a:ea typeface="Be Vietnam Pro" pitchFamily="34" charset="-122"/>
                <a:cs typeface="Be Vietnam Pro" pitchFamily="34" charset="-120"/>
              </a:rPr>
              <a:t>Input data:</a:t>
            </a:r>
            <a:r>
              <a:rPr lang="en-US" sz="1200" dirty="0">
                <a:solidFill>
                  <a:srgbClr val="111111"/>
                </a:solidFill>
                <a:latin typeface="Be Vietnam Pro" pitchFamily="34" charset="0"/>
                <a:ea typeface="Be Vietnam Pro" pitchFamily="34" charset="-122"/>
                <a:cs typeface="Be Vietnam Pro" pitchFamily="34" charset="-120"/>
              </a:rPr>
              <a:t> model.tflite (4.1 MB), input.bin, imagenette1000_rgb224_u8.bin.gz (100.5 MB)</a:t>
            </a:r>
            <a:endParaRPr lang="en-US" sz="1200" dirty="0"/>
          </a:p>
        </p:txBody>
      </p:sp>
      <p:sp>
        <p:nvSpPr>
          <p:cNvPr id="9" name="Text 6"/>
          <p:cNvSpPr/>
          <p:nvPr/>
        </p:nvSpPr>
        <p:spPr>
          <a:xfrm>
            <a:off x="819150" y="2802830"/>
            <a:ext cx="3035300" cy="546100"/>
          </a:xfrm>
          <a:prstGeom prst="rect">
            <a:avLst/>
          </a:prstGeom>
          <a:solidFill>
            <a:srgbClr val="FFFFFF"/>
          </a:solidFill>
          <a:ln w="12700">
            <a:solidFill>
              <a:srgbClr val="111111"/>
            </a:solidFill>
            <a:prstDash val="solid"/>
          </a:ln>
        </p:spPr>
        <p:txBody>
          <a:bodyPr wrap="square" lIns="26416" tIns="69850" rIns="26416" bIns="69850" rtlCol="0" anchor="ctr">
            <a:normAutofit/>
          </a:bodyPr>
          <a:lstStyle/>
          <a:p>
            <a:pPr algn="ctr" indent="0" marL="0">
              <a:lnSpc>
                <a:spcPts val="1500"/>
              </a:lnSpc>
              <a:buNone/>
            </a:pPr>
            <a:r>
              <a:rPr lang="en-US" sz="1200" b="1" dirty="0">
                <a:solidFill>
                  <a:srgbClr val="111111"/>
                </a:solidFill>
                <a:latin typeface="Be Vietnam Pro" pitchFamily="34" charset="0"/>
                <a:ea typeface="Be Vietnam Pro" pitchFamily="34" charset="-122"/>
                <a:cs typeface="Be Vietnam Pro" pitchFamily="34" charset="-120"/>
              </a:rPr>
              <a:t>Python application</a:t>
            </a:r>
            <a:endParaRPr lang="en-US" sz="1200" dirty="0"/>
          </a:p>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benchmark_1000_python.py</a:t>
            </a:r>
            <a:endParaRPr lang="en-US" sz="1200" dirty="0"/>
          </a:p>
        </p:txBody>
      </p:sp>
      <p:sp>
        <p:nvSpPr>
          <p:cNvPr id="10" name="Text 7"/>
          <p:cNvSpPr/>
          <p:nvPr/>
        </p:nvSpPr>
        <p:spPr>
          <a:xfrm>
            <a:off x="4121150" y="2802830"/>
            <a:ext cx="3035300" cy="546100"/>
          </a:xfrm>
          <a:prstGeom prst="rect">
            <a:avLst/>
          </a:prstGeom>
          <a:solidFill>
            <a:srgbClr val="FFFFFF"/>
          </a:solidFill>
          <a:ln w="12700">
            <a:solidFill>
              <a:srgbClr val="111111"/>
            </a:solidFill>
            <a:prstDash val="solid"/>
          </a:ln>
        </p:spPr>
        <p:txBody>
          <a:bodyPr wrap="square" lIns="26416" tIns="69850" rIns="26416" bIns="69850" rtlCol="0" anchor="ctr">
            <a:normAutofit/>
          </a:bodyPr>
          <a:lstStyle/>
          <a:p>
            <a:pPr algn="ctr" indent="0" marL="0">
              <a:lnSpc>
                <a:spcPts val="1500"/>
              </a:lnSpc>
              <a:buNone/>
            </a:pPr>
            <a:r>
              <a:rPr lang="en-US" sz="1200" b="1" dirty="0">
                <a:solidFill>
                  <a:srgbClr val="111111"/>
                </a:solidFill>
                <a:latin typeface="Be Vietnam Pro" pitchFamily="34" charset="0"/>
                <a:ea typeface="Be Vietnam Pro" pitchFamily="34" charset="-122"/>
                <a:cs typeface="Be Vietnam Pro" pitchFamily="34" charset="-120"/>
              </a:rPr>
              <a:t>Native C application</a:t>
            </a:r>
            <a:endParaRPr lang="en-US" sz="1200" dirty="0"/>
          </a:p>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benchmark_1000_c (ARM ELF)</a:t>
            </a:r>
            <a:endParaRPr lang="en-US" sz="1200" dirty="0"/>
          </a:p>
        </p:txBody>
      </p:sp>
      <p:sp>
        <p:nvSpPr>
          <p:cNvPr id="11" name="Text 8"/>
          <p:cNvSpPr/>
          <p:nvPr/>
        </p:nvSpPr>
        <p:spPr>
          <a:xfrm>
            <a:off x="819150" y="3590230"/>
            <a:ext cx="3035300" cy="546100"/>
          </a:xfrm>
          <a:prstGeom prst="rect">
            <a:avLst/>
          </a:prstGeom>
          <a:solidFill>
            <a:srgbClr val="FFFFFF"/>
          </a:solidFill>
          <a:ln w="12700">
            <a:solidFill>
              <a:srgbClr val="111111"/>
            </a:solidFill>
            <a:prstDash val="solid"/>
          </a:ln>
        </p:spPr>
        <p:txBody>
          <a:bodyPr wrap="square" lIns="26416" tIns="69850" rIns="26416" bIns="69850" rtlCol="0" anchor="ctr">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python3-tensorflow-lite, python3-numpy</a:t>
            </a:r>
            <a:endParaRPr lang="en-US" sz="1200" dirty="0"/>
          </a:p>
        </p:txBody>
      </p:sp>
      <p:sp>
        <p:nvSpPr>
          <p:cNvPr id="12" name="Text 9"/>
          <p:cNvSpPr/>
          <p:nvPr/>
        </p:nvSpPr>
        <p:spPr>
          <a:xfrm>
            <a:off x="4121150" y="3590230"/>
            <a:ext cx="3035300" cy="546100"/>
          </a:xfrm>
          <a:prstGeom prst="rect">
            <a:avLst/>
          </a:prstGeom>
          <a:solidFill>
            <a:srgbClr val="FFFFFF"/>
          </a:solidFill>
          <a:ln w="12700">
            <a:solidFill>
              <a:srgbClr val="111111"/>
            </a:solidFill>
            <a:prstDash val="solid"/>
          </a:ln>
        </p:spPr>
        <p:txBody>
          <a:bodyPr wrap="square" lIns="26416" tIns="69850" rIns="26416" bIns="69850" rtlCol="0" anchor="ctr">
            <a:normAutofit/>
          </a:bodyPr>
          <a:lstStyle/>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libtensorflowlite_c.so, zlib</a:t>
            </a:r>
            <a:endParaRPr lang="en-US" sz="1200" dirty="0"/>
          </a:p>
        </p:txBody>
      </p:sp>
      <p:sp>
        <p:nvSpPr>
          <p:cNvPr id="13" name="Text 10"/>
          <p:cNvSpPr/>
          <p:nvPr/>
        </p:nvSpPr>
        <p:spPr>
          <a:xfrm>
            <a:off x="819150" y="4377630"/>
            <a:ext cx="6337300" cy="546100"/>
          </a:xfrm>
          <a:prstGeom prst="rect">
            <a:avLst/>
          </a:prstGeom>
          <a:solidFill>
            <a:srgbClr val="FFFFFF"/>
          </a:solidFill>
          <a:ln w="12700">
            <a:solidFill>
              <a:srgbClr val="111111"/>
            </a:solidFill>
            <a:prstDash val="solid"/>
          </a:ln>
        </p:spPr>
        <p:txBody>
          <a:bodyPr wrap="square" lIns="0" tIns="69850" rIns="0" bIns="69850" rtlCol="0" anchor="ctr">
            <a:normAutofit/>
          </a:bodyPr>
          <a:lstStyle/>
          <a:p>
            <a:pPr algn="ctr" indent="0" marL="0">
              <a:lnSpc>
                <a:spcPts val="1500"/>
              </a:lnSpc>
              <a:buNone/>
            </a:pPr>
            <a:r>
              <a:rPr lang="en-US" sz="1200" b="1" dirty="0">
                <a:solidFill>
                  <a:srgbClr val="111111"/>
                </a:solidFill>
                <a:latin typeface="Be Vietnam Pro" pitchFamily="34" charset="0"/>
                <a:ea typeface="Be Vietnam Pro" pitchFamily="34" charset="-122"/>
                <a:cs typeface="Be Vietnam Pro" pitchFamily="34" charset="-120"/>
              </a:rPr>
              <a:t>Yocto Linux</a:t>
            </a:r>
            <a:endParaRPr lang="en-US" sz="1200" dirty="0"/>
          </a:p>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Poky 5.0.20 – kernel 6.6.63 – systemd – ttyAMA0 (UART)</a:t>
            </a:r>
            <a:endParaRPr lang="en-US" sz="1200" dirty="0"/>
          </a:p>
        </p:txBody>
      </p:sp>
      <p:sp>
        <p:nvSpPr>
          <p:cNvPr id="14" name="Text 11"/>
          <p:cNvSpPr/>
          <p:nvPr/>
        </p:nvSpPr>
        <p:spPr>
          <a:xfrm>
            <a:off x="819150" y="5165030"/>
            <a:ext cx="6337300" cy="546100"/>
          </a:xfrm>
          <a:prstGeom prst="rect">
            <a:avLst/>
          </a:prstGeom>
          <a:solidFill>
            <a:srgbClr val="FFFFFF"/>
          </a:solidFill>
          <a:ln w="12700">
            <a:solidFill>
              <a:srgbClr val="111111"/>
            </a:solidFill>
            <a:prstDash val="solid"/>
          </a:ln>
        </p:spPr>
        <p:txBody>
          <a:bodyPr wrap="square" lIns="0" tIns="69850" rIns="0" bIns="69850" rtlCol="0" anchor="ctr">
            <a:normAutofit/>
          </a:bodyPr>
          <a:lstStyle/>
          <a:p>
            <a:pPr algn="ctr" indent="0" marL="0">
              <a:lnSpc>
                <a:spcPts val="1500"/>
              </a:lnSpc>
              <a:buNone/>
            </a:pPr>
            <a:r>
              <a:rPr lang="en-US" sz="1200" b="1" dirty="0">
                <a:solidFill>
                  <a:srgbClr val="111111"/>
                </a:solidFill>
                <a:latin typeface="Be Vietnam Pro" pitchFamily="34" charset="0"/>
                <a:ea typeface="Be Vietnam Pro" pitchFamily="34" charset="-122"/>
                <a:cs typeface="Be Vietnam Pro" pitchFamily="34" charset="-120"/>
              </a:rPr>
              <a:t>Raspberry Pi 4 Model B</a:t>
            </a:r>
            <a:endParaRPr lang="en-US" sz="1200" dirty="0"/>
          </a:p>
          <a:p>
            <a:pPr algn="ctr" indent="0" marL="0">
              <a:lnSpc>
                <a:spcPts val="1500"/>
              </a:lnSpc>
              <a:buNone/>
            </a:pPr>
            <a:r>
              <a:rPr lang="en-US" sz="1200" dirty="0">
                <a:solidFill>
                  <a:srgbClr val="111111"/>
                </a:solidFill>
                <a:latin typeface="Be Vietnam Pro" pitchFamily="34" charset="0"/>
                <a:ea typeface="Be Vietnam Pro" pitchFamily="34" charset="-122"/>
                <a:cs typeface="Be Vietnam Pro" pitchFamily="34" charset="-120"/>
              </a:rPr>
              <a:t>BCM2711 (4 × Cortex-A72, 1.5 GHz) – 4 GB LPDDR4</a:t>
            </a:r>
            <a:endParaRPr lang="en-US" sz="1200" dirty="0"/>
          </a:p>
        </p:txBody>
      </p:sp>
      <p:pic>
        <p:nvPicPr>
          <p:cNvPr id="15" name="Image 1" descr="connector">    </p:cNvPr>
          <p:cNvPicPr>
            <a:picLocks noChangeAspect="1"/>
          </p:cNvPicPr>
          <p:nvPr/>
        </p:nvPicPr>
        <p:blipFill>
          <a:blip r:embed="rId2"/>
          <a:srcRect l="0" r="0" t="0" b="0"/>
          <a:stretch/>
        </p:blipFill>
        <p:spPr>
          <a:xfrm>
            <a:off x="2298700" y="2529780"/>
            <a:ext cx="76200" cy="304800"/>
          </a:xfrm>
          <a:prstGeom prst="rect">
            <a:avLst/>
          </a:prstGeom>
        </p:spPr>
      </p:pic>
      <p:pic>
        <p:nvPicPr>
          <p:cNvPr id="16" name="Image 2" descr="connector">    </p:cNvPr>
          <p:cNvPicPr>
            <a:picLocks noChangeAspect="1"/>
          </p:cNvPicPr>
          <p:nvPr/>
        </p:nvPicPr>
        <p:blipFill>
          <a:blip r:embed="rId3"/>
          <a:srcRect l="0" r="0" t="0" b="0"/>
          <a:stretch/>
        </p:blipFill>
        <p:spPr>
          <a:xfrm>
            <a:off x="5600700" y="2529780"/>
            <a:ext cx="76200" cy="304800"/>
          </a:xfrm>
          <a:prstGeom prst="rect">
            <a:avLst/>
          </a:prstGeom>
        </p:spPr>
      </p:pic>
      <p:pic>
        <p:nvPicPr>
          <p:cNvPr id="17" name="Image 3" descr="connector">    </p:cNvPr>
          <p:cNvPicPr>
            <a:picLocks noChangeAspect="1"/>
          </p:cNvPicPr>
          <p:nvPr/>
        </p:nvPicPr>
        <p:blipFill>
          <a:blip r:embed="rId4"/>
          <a:srcRect l="0" r="0" t="0" b="0"/>
          <a:stretch/>
        </p:blipFill>
        <p:spPr>
          <a:xfrm>
            <a:off x="2298700" y="3317180"/>
            <a:ext cx="76200" cy="304800"/>
          </a:xfrm>
          <a:prstGeom prst="rect">
            <a:avLst/>
          </a:prstGeom>
        </p:spPr>
      </p:pic>
      <p:pic>
        <p:nvPicPr>
          <p:cNvPr id="18" name="Image 4" descr="connector">    </p:cNvPr>
          <p:cNvPicPr>
            <a:picLocks noChangeAspect="1"/>
          </p:cNvPicPr>
          <p:nvPr/>
        </p:nvPicPr>
        <p:blipFill>
          <a:blip r:embed="rId5"/>
          <a:srcRect l="0" r="0" t="0" b="0"/>
          <a:stretch/>
        </p:blipFill>
        <p:spPr>
          <a:xfrm>
            <a:off x="5600700" y="3317180"/>
            <a:ext cx="76200" cy="304800"/>
          </a:xfrm>
          <a:prstGeom prst="rect">
            <a:avLst/>
          </a:prstGeom>
        </p:spPr>
      </p:pic>
      <p:pic>
        <p:nvPicPr>
          <p:cNvPr id="19" name="Image 5" descr="connector">    </p:cNvPr>
          <p:cNvPicPr>
            <a:picLocks noChangeAspect="1"/>
          </p:cNvPicPr>
          <p:nvPr/>
        </p:nvPicPr>
        <p:blipFill>
          <a:blip r:embed="rId6"/>
          <a:srcRect l="0" r="0" t="0" b="0"/>
          <a:stretch/>
        </p:blipFill>
        <p:spPr>
          <a:xfrm>
            <a:off x="2298700" y="4104580"/>
            <a:ext cx="76200" cy="304800"/>
          </a:xfrm>
          <a:prstGeom prst="rect">
            <a:avLst/>
          </a:prstGeom>
        </p:spPr>
      </p:pic>
      <p:pic>
        <p:nvPicPr>
          <p:cNvPr id="20" name="Image 6" descr="connector">    </p:cNvPr>
          <p:cNvPicPr>
            <a:picLocks noChangeAspect="1"/>
          </p:cNvPicPr>
          <p:nvPr/>
        </p:nvPicPr>
        <p:blipFill>
          <a:blip r:embed="rId7"/>
          <a:srcRect l="0" r="0" t="0" b="0"/>
          <a:stretch/>
        </p:blipFill>
        <p:spPr>
          <a:xfrm>
            <a:off x="5600700" y="4104580"/>
            <a:ext cx="76200" cy="304800"/>
          </a:xfrm>
          <a:prstGeom prst="rect">
            <a:avLst/>
          </a:prstGeom>
        </p:spPr>
      </p:pic>
      <p:pic>
        <p:nvPicPr>
          <p:cNvPr id="21" name="Image 7" descr="connector">    </p:cNvPr>
          <p:cNvPicPr>
            <a:picLocks noChangeAspect="1"/>
          </p:cNvPicPr>
          <p:nvPr/>
        </p:nvPicPr>
        <p:blipFill>
          <a:blip r:embed="rId8"/>
          <a:srcRect l="0" r="0" t="0" b="0"/>
          <a:stretch/>
        </p:blipFill>
        <p:spPr>
          <a:xfrm>
            <a:off x="3949700" y="4891980"/>
            <a:ext cx="76200" cy="304800"/>
          </a:xfrm>
          <a:prstGeom prst="rect">
            <a:avLst/>
          </a:prstGeom>
        </p:spPr>
      </p:pic>
      <p:sp>
        <p:nvSpPr>
          <p:cNvPr id="22" name="Text 12"/>
          <p:cNvSpPr/>
          <p:nvPr/>
        </p:nvSpPr>
        <p:spPr>
          <a:xfrm>
            <a:off x="7569200" y="2009080"/>
            <a:ext cx="3924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2E6E"/>
                </a:solidFill>
                <a:latin typeface="Be Vietnam Pro" pitchFamily="34" charset="0"/>
                <a:ea typeface="Be Vietnam Pro" pitchFamily="34" charset="-122"/>
                <a:cs typeface="Be Vietnam Pro" pitchFamily="34" charset="-120"/>
              </a:rPr>
              <a:t>Layer meta-edge-ai</a:t>
            </a:r>
            <a:endParaRPr lang="en-US" sz="1500" dirty="0"/>
          </a:p>
        </p:txBody>
      </p:sp>
      <p:sp>
        <p:nvSpPr>
          <p:cNvPr id="23" name="Text 13"/>
          <p:cNvSpPr/>
          <p:nvPr/>
        </p:nvSpPr>
        <p:spPr>
          <a:xfrm>
            <a:off x="7569200" y="2326580"/>
            <a:ext cx="392430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04A"/>
                </a:solidFill>
                <a:latin typeface="Be Vietnam Pro" pitchFamily="34" charset="0"/>
                <a:ea typeface="Be Vietnam Pro" pitchFamily="34" charset="-122"/>
                <a:cs typeface="Be Vietnam Pro" pitchFamily="34" charset="-120"/>
              </a:rPr>
              <a:t>A .bbappend for libtensorflow-lite-c 2.16.2 installs the C API headers (c_api.h, c_api_types.h, builtin_ops.h).</a:t>
            </a:r>
            <a:endParaRPr lang="en-US" sz="1300" dirty="0"/>
          </a:p>
        </p:txBody>
      </p:sp>
      <p:sp>
        <p:nvSpPr>
          <p:cNvPr id="24" name="Text 14"/>
          <p:cNvSpPr/>
          <p:nvPr/>
        </p:nvSpPr>
        <p:spPr>
          <a:xfrm>
            <a:off x="7569200" y="3084016"/>
            <a:ext cx="3924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2E6E"/>
                </a:solidFill>
                <a:latin typeface="Be Vietnam Pro" pitchFamily="34" charset="0"/>
                <a:ea typeface="Be Vietnam Pro" pitchFamily="34" charset="-122"/>
                <a:cs typeface="Be Vietnam Pro" pitchFamily="34" charset="-120"/>
              </a:rPr>
              <a:t>Model and data</a:t>
            </a:r>
            <a:endParaRPr lang="en-US" sz="1500" dirty="0"/>
          </a:p>
        </p:txBody>
      </p:sp>
      <p:sp>
        <p:nvSpPr>
          <p:cNvPr id="25" name="Text 15"/>
          <p:cNvSpPr/>
          <p:nvPr/>
        </p:nvSpPr>
        <p:spPr>
          <a:xfrm>
            <a:off x="7569200" y="3401516"/>
            <a:ext cx="392430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04A"/>
                </a:solidFill>
                <a:latin typeface="Be Vietnam Pro" pitchFamily="34" charset="0"/>
                <a:ea typeface="Be Vietnam Pro" pitchFamily="34" charset="-122"/>
                <a:cs typeface="Be Vietnam Pro" pitchFamily="34" charset="-120"/>
              </a:rPr>
              <a:t>MobileNet V1, uint8-quantized: 4.1 MB, 75% smaller. Input [1, 224, 224, 3]; 1,000 Imagenette images, 10 classes.</a:t>
            </a:r>
            <a:endParaRPr lang="en-US" sz="1300" dirty="0"/>
          </a:p>
        </p:txBody>
      </p:sp>
      <p:sp>
        <p:nvSpPr>
          <p:cNvPr id="26" name="Text 16"/>
          <p:cNvSpPr/>
          <p:nvPr/>
        </p:nvSpPr>
        <p:spPr>
          <a:xfrm>
            <a:off x="7569200" y="4158952"/>
            <a:ext cx="39243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2E6E"/>
                </a:solidFill>
                <a:latin typeface="Be Vietnam Pro" pitchFamily="34" charset="0"/>
                <a:ea typeface="Be Vietnam Pro" pitchFamily="34" charset="-122"/>
                <a:cs typeface="Be Vietnam Pro" pitchFamily="34" charset="-120"/>
              </a:rPr>
              <a:t>Two engines</a:t>
            </a:r>
            <a:endParaRPr lang="en-US" sz="1500" dirty="0"/>
          </a:p>
        </p:txBody>
      </p:sp>
      <p:sp>
        <p:nvSpPr>
          <p:cNvPr id="27" name="Text 17"/>
          <p:cNvSpPr/>
          <p:nvPr/>
        </p:nvSpPr>
        <p:spPr>
          <a:xfrm>
            <a:off x="7569200" y="4476452"/>
            <a:ext cx="39243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04A"/>
                </a:solidFill>
                <a:latin typeface="Be Vietnam Pro" pitchFamily="34" charset="0"/>
                <a:ea typeface="Be Vietnam Pro" pitchFamily="34" charset="-122"/>
                <a:cs typeface="Be Vietnam Pro" pitchFamily="34" charset="-120"/>
              </a:rPr>
              <a:t>Python (tflite_runtime) and native C (TFLite C API + zlib) run the same workload.</a:t>
            </a:r>
            <a:endParaRPr lang="en-US" sz="1300" dirty="0"/>
          </a:p>
        </p:txBody>
      </p:sp>
      <p:sp>
        <p:nvSpPr>
          <p:cNvPr id="28"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29"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mychardev: from source code to QEMU</a:t>
            </a:r>
            <a:endParaRPr lang="en-US" sz="2800" dirty="0"/>
          </a:p>
        </p:txBody>
      </p:sp>
      <p:sp>
        <p:nvSpPr>
          <p:cNvPr id="8" name="Text 5"/>
          <p:cNvSpPr/>
          <p:nvPr/>
        </p:nvSpPr>
        <p:spPr>
          <a:xfrm>
            <a:off x="819150" y="2015430"/>
            <a:ext cx="4432300" cy="368300"/>
          </a:xfrm>
          <a:prstGeom prst="rect">
            <a:avLst/>
          </a:prstGeom>
          <a:solidFill>
            <a:srgbClr val="FFFFFF"/>
          </a:solidFill>
          <a:ln w="12700">
            <a:solidFill>
              <a:srgbClr val="111111"/>
            </a:solidFill>
            <a:prstDash val="solid"/>
          </a:ln>
        </p:spPr>
        <p:txBody>
          <a:bodyPr wrap="square" lIns="31623" tIns="6350" rIns="31623"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Source: mychardev.c, Makefile, COPYING</a:t>
            </a:r>
            <a:endParaRPr lang="en-US" sz="1200" dirty="0"/>
          </a:p>
        </p:txBody>
      </p:sp>
      <p:sp>
        <p:nvSpPr>
          <p:cNvPr id="9" name="Text 6"/>
          <p:cNvSpPr/>
          <p:nvPr/>
        </p:nvSpPr>
        <p:spPr>
          <a:xfrm>
            <a:off x="819150" y="2650430"/>
            <a:ext cx="4432300" cy="368300"/>
          </a:xfrm>
          <a:prstGeom prst="rect">
            <a:avLst/>
          </a:prstGeom>
          <a:solidFill>
            <a:srgbClr val="FFFFFF"/>
          </a:solidFill>
          <a:ln w="12700">
            <a:solidFill>
              <a:srgbClr val="111111"/>
            </a:solidFill>
            <a:prstDash val="solid"/>
          </a:ln>
        </p:spPr>
        <p:txBody>
          <a:bodyPr wrap="square" lIns="31623" tIns="6350" rIns="31623"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Compile with Kbuild → mychardev.ko</a:t>
            </a:r>
            <a:endParaRPr lang="en-US" sz="1200" dirty="0"/>
          </a:p>
        </p:txBody>
      </p:sp>
      <p:sp>
        <p:nvSpPr>
          <p:cNvPr id="10" name="Text 7"/>
          <p:cNvSpPr/>
          <p:nvPr/>
        </p:nvSpPr>
        <p:spPr>
          <a:xfrm>
            <a:off x="819150" y="3285430"/>
            <a:ext cx="4432300" cy="368300"/>
          </a:xfrm>
          <a:prstGeom prst="rect">
            <a:avLst/>
          </a:prstGeom>
          <a:solidFill>
            <a:srgbClr val="FFFFFF"/>
          </a:solidFill>
          <a:ln w="12700">
            <a:solidFill>
              <a:srgbClr val="111111"/>
            </a:solidFill>
            <a:prstDash val="solid"/>
          </a:ln>
        </p:spPr>
        <p:txBody>
          <a:bodyPr wrap="square" lIns="31623" tIns="6350" rIns="31623"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Install to …/lib/modules/…/updates/</a:t>
            </a:r>
            <a:endParaRPr lang="en-US" sz="1200" dirty="0"/>
          </a:p>
        </p:txBody>
      </p:sp>
      <p:sp>
        <p:nvSpPr>
          <p:cNvPr id="11" name="Text 8"/>
          <p:cNvSpPr/>
          <p:nvPr/>
        </p:nvSpPr>
        <p:spPr>
          <a:xfrm>
            <a:off x="819150" y="3920430"/>
            <a:ext cx="4432300" cy="368300"/>
          </a:xfrm>
          <a:prstGeom prst="rect">
            <a:avLst/>
          </a:prstGeom>
          <a:solidFill>
            <a:srgbClr val="FFFFFF"/>
          </a:solidFill>
          <a:ln w="12700">
            <a:solidFill>
              <a:srgbClr val="111111"/>
            </a:solidFill>
            <a:prstDash val="solid"/>
          </a:ln>
        </p:spPr>
        <p:txBody>
          <a:bodyPr wrap="square" lIns="31623" tIns="6350" rIns="31623"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Package: kernel-module-mychardev, mychardev</a:t>
            </a:r>
            <a:endParaRPr lang="en-US" sz="1200" dirty="0"/>
          </a:p>
        </p:txBody>
      </p:sp>
      <p:sp>
        <p:nvSpPr>
          <p:cNvPr id="12" name="Text 9"/>
          <p:cNvSpPr/>
          <p:nvPr/>
        </p:nvSpPr>
        <p:spPr>
          <a:xfrm>
            <a:off x="819150" y="4555430"/>
            <a:ext cx="4432300" cy="368300"/>
          </a:xfrm>
          <a:prstGeom prst="rect">
            <a:avLst/>
          </a:prstGeom>
          <a:solidFill>
            <a:srgbClr val="FFFFFF"/>
          </a:solidFill>
          <a:ln w="12700">
            <a:solidFill>
              <a:srgbClr val="111111"/>
            </a:solidFill>
            <a:prstDash val="solid"/>
          </a:ln>
        </p:spPr>
        <p:txBody>
          <a:bodyPr wrap="square" lIns="31623" tIns="6350" rIns="31623"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Add to rootfs.ext4 (core-image-minimal)</a:t>
            </a:r>
            <a:endParaRPr lang="en-US" sz="1200" dirty="0"/>
          </a:p>
        </p:txBody>
      </p:sp>
      <p:sp>
        <p:nvSpPr>
          <p:cNvPr id="13" name="Text 10"/>
          <p:cNvSpPr/>
          <p:nvPr/>
        </p:nvSpPr>
        <p:spPr>
          <a:xfrm>
            <a:off x="819150" y="5190430"/>
            <a:ext cx="4432300" cy="368300"/>
          </a:xfrm>
          <a:prstGeom prst="rect">
            <a:avLst/>
          </a:prstGeom>
          <a:solidFill>
            <a:srgbClr val="FFFFFF"/>
          </a:solidFill>
          <a:ln w="12700">
            <a:solidFill>
              <a:srgbClr val="111111"/>
            </a:solidFill>
            <a:prstDash val="solid"/>
          </a:ln>
        </p:spPr>
        <p:txBody>
          <a:bodyPr wrap="square" lIns="31623" tIns="6350" rIns="31623" bIns="6350" rtlCol="0" anchor="ctr">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Boot QEMU: auto-load → /dev/mychardev</a:t>
            </a:r>
            <a:endParaRPr lang="en-US" sz="1200" dirty="0"/>
          </a:p>
        </p:txBody>
      </p:sp>
      <p:pic>
        <p:nvPicPr>
          <p:cNvPr id="14" name="Image 1" descr="connector">    </p:cNvPr>
          <p:cNvPicPr>
            <a:picLocks noChangeAspect="1"/>
          </p:cNvPicPr>
          <p:nvPr/>
        </p:nvPicPr>
        <p:blipFill>
          <a:blip r:embed="rId2"/>
          <a:srcRect l="0" r="0" t="0" b="0"/>
          <a:stretch/>
        </p:blipFill>
        <p:spPr>
          <a:xfrm>
            <a:off x="2997200" y="2351980"/>
            <a:ext cx="76200" cy="330200"/>
          </a:xfrm>
          <a:prstGeom prst="rect">
            <a:avLst/>
          </a:prstGeom>
        </p:spPr>
      </p:pic>
      <p:pic>
        <p:nvPicPr>
          <p:cNvPr id="15" name="Image 2" descr="connector">    </p:cNvPr>
          <p:cNvPicPr>
            <a:picLocks noChangeAspect="1"/>
          </p:cNvPicPr>
          <p:nvPr/>
        </p:nvPicPr>
        <p:blipFill>
          <a:blip r:embed="rId3"/>
          <a:srcRect l="0" r="0" t="0" b="0"/>
          <a:stretch/>
        </p:blipFill>
        <p:spPr>
          <a:xfrm>
            <a:off x="2997200" y="2986980"/>
            <a:ext cx="76200" cy="330200"/>
          </a:xfrm>
          <a:prstGeom prst="rect">
            <a:avLst/>
          </a:prstGeom>
        </p:spPr>
      </p:pic>
      <p:pic>
        <p:nvPicPr>
          <p:cNvPr id="16" name="Image 3" descr="connector">    </p:cNvPr>
          <p:cNvPicPr>
            <a:picLocks noChangeAspect="1"/>
          </p:cNvPicPr>
          <p:nvPr/>
        </p:nvPicPr>
        <p:blipFill>
          <a:blip r:embed="rId4"/>
          <a:srcRect l="0" r="0" t="0" b="0"/>
          <a:stretch/>
        </p:blipFill>
        <p:spPr>
          <a:xfrm>
            <a:off x="2997200" y="3621980"/>
            <a:ext cx="76200" cy="330200"/>
          </a:xfrm>
          <a:prstGeom prst="rect">
            <a:avLst/>
          </a:prstGeom>
        </p:spPr>
      </p:pic>
      <p:pic>
        <p:nvPicPr>
          <p:cNvPr id="17" name="Image 4" descr="connector">    </p:cNvPr>
          <p:cNvPicPr>
            <a:picLocks noChangeAspect="1"/>
          </p:cNvPicPr>
          <p:nvPr/>
        </p:nvPicPr>
        <p:blipFill>
          <a:blip r:embed="rId5"/>
          <a:srcRect l="0" r="0" t="0" b="0"/>
          <a:stretch/>
        </p:blipFill>
        <p:spPr>
          <a:xfrm>
            <a:off x="2997200" y="4256980"/>
            <a:ext cx="76200" cy="330200"/>
          </a:xfrm>
          <a:prstGeom prst="rect">
            <a:avLst/>
          </a:prstGeom>
        </p:spPr>
      </p:pic>
      <p:pic>
        <p:nvPicPr>
          <p:cNvPr id="18" name="Image 5" descr="connector">    </p:cNvPr>
          <p:cNvPicPr>
            <a:picLocks noChangeAspect="1"/>
          </p:cNvPicPr>
          <p:nvPr/>
        </p:nvPicPr>
        <p:blipFill>
          <a:blip r:embed="rId6"/>
          <a:srcRect l="0" r="0" t="0" b="0"/>
          <a:stretch/>
        </p:blipFill>
        <p:spPr>
          <a:xfrm>
            <a:off x="2997200" y="4891980"/>
            <a:ext cx="76200" cy="330200"/>
          </a:xfrm>
          <a:prstGeom prst="rect">
            <a:avLst/>
          </a:prstGeom>
        </p:spPr>
      </p:pic>
      <p:sp>
        <p:nvSpPr>
          <p:cNvPr id="19" name="Text 11"/>
          <p:cNvSpPr/>
          <p:nvPr/>
        </p:nvSpPr>
        <p:spPr>
          <a:xfrm>
            <a:off x="5511800" y="2104330"/>
            <a:ext cx="22237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04A"/>
                </a:solidFill>
                <a:latin typeface="Be Vietnam Pro" pitchFamily="34" charset="0"/>
                <a:ea typeface="Be Vietnam Pro" pitchFamily="34" charset="-122"/>
                <a:cs typeface="Be Vietnam Pro" pitchFamily="34" charset="-120"/>
              </a:rPr>
              <a:t>do_fetch, do_unpack</a:t>
            </a:r>
            <a:endParaRPr lang="en-US" sz="1200" dirty="0"/>
          </a:p>
        </p:txBody>
      </p:sp>
      <p:sp>
        <p:nvSpPr>
          <p:cNvPr id="20" name="Text 12"/>
          <p:cNvSpPr/>
          <p:nvPr/>
        </p:nvSpPr>
        <p:spPr>
          <a:xfrm>
            <a:off x="5511800" y="2739330"/>
            <a:ext cx="22237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04A"/>
                </a:solidFill>
                <a:latin typeface="Be Vietnam Pro" pitchFamily="34" charset="0"/>
                <a:ea typeface="Be Vietnam Pro" pitchFamily="34" charset="-122"/>
                <a:cs typeface="Be Vietnam Pro" pitchFamily="34" charset="-120"/>
              </a:rPr>
              <a:t>do_compile</a:t>
            </a:r>
            <a:endParaRPr lang="en-US" sz="1200" dirty="0"/>
          </a:p>
        </p:txBody>
      </p:sp>
      <p:sp>
        <p:nvSpPr>
          <p:cNvPr id="21" name="Text 13"/>
          <p:cNvSpPr/>
          <p:nvPr/>
        </p:nvSpPr>
        <p:spPr>
          <a:xfrm>
            <a:off x="5511800" y="3374330"/>
            <a:ext cx="22237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04A"/>
                </a:solidFill>
                <a:latin typeface="Be Vietnam Pro" pitchFamily="34" charset="0"/>
                <a:ea typeface="Be Vietnam Pro" pitchFamily="34" charset="-122"/>
                <a:cs typeface="Be Vietnam Pro" pitchFamily="34" charset="-120"/>
              </a:rPr>
              <a:t>do_install</a:t>
            </a:r>
            <a:endParaRPr lang="en-US" sz="1200" dirty="0"/>
          </a:p>
        </p:txBody>
      </p:sp>
      <p:sp>
        <p:nvSpPr>
          <p:cNvPr id="22" name="Text 14"/>
          <p:cNvSpPr/>
          <p:nvPr/>
        </p:nvSpPr>
        <p:spPr>
          <a:xfrm>
            <a:off x="5511800" y="3914080"/>
            <a:ext cx="222377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04A"/>
                </a:solidFill>
                <a:latin typeface="Be Vietnam Pro" pitchFamily="34" charset="0"/>
                <a:ea typeface="Be Vietnam Pro" pitchFamily="34" charset="-122"/>
                <a:cs typeface="Be Vietnam Pro" pitchFamily="34" charset="-120"/>
              </a:rPr>
              <a:t>do_package, do_package_write_rpm</a:t>
            </a:r>
            <a:endParaRPr lang="en-US" sz="1200" dirty="0"/>
          </a:p>
        </p:txBody>
      </p:sp>
      <p:sp>
        <p:nvSpPr>
          <p:cNvPr id="23" name="Text 15"/>
          <p:cNvSpPr/>
          <p:nvPr/>
        </p:nvSpPr>
        <p:spPr>
          <a:xfrm>
            <a:off x="5511800" y="4549080"/>
            <a:ext cx="259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04A"/>
                </a:solidFill>
                <a:latin typeface="Be Vietnam Pro" pitchFamily="34" charset="0"/>
                <a:ea typeface="Be Vietnam Pro" pitchFamily="34" charset="-122"/>
                <a:cs typeface="Be Vietnam Pro" pitchFamily="34" charset="-120"/>
              </a:rPr>
              <a:t>do_rootfs (IMAGE_INSTALL)</a:t>
            </a:r>
            <a:endParaRPr lang="en-US" sz="1200" dirty="0"/>
          </a:p>
        </p:txBody>
      </p:sp>
      <p:sp>
        <p:nvSpPr>
          <p:cNvPr id="24" name="Text 16"/>
          <p:cNvSpPr/>
          <p:nvPr/>
        </p:nvSpPr>
        <p:spPr>
          <a:xfrm>
            <a:off x="5511800" y="5279330"/>
            <a:ext cx="222377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3A404A"/>
                </a:solidFill>
                <a:latin typeface="Be Vietnam Pro" pitchFamily="34" charset="0"/>
                <a:ea typeface="Be Vietnam Pro" pitchFamily="34" charset="-122"/>
                <a:cs typeface="Be Vietnam Pro" pitchFamily="34" charset="-120"/>
              </a:rPr>
              <a:t>KERNEL_MODULE_AUTOLOAD</a:t>
            </a:r>
            <a:endParaRPr lang="en-US" sz="1200" dirty="0"/>
          </a:p>
        </p:txBody>
      </p:sp>
      <p:sp>
        <p:nvSpPr>
          <p:cNvPr id="25" name="Text 17"/>
          <p:cNvSpPr/>
          <p:nvPr/>
        </p:nvSpPr>
        <p:spPr>
          <a:xfrm>
            <a:off x="7975600" y="2009080"/>
            <a:ext cx="35057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0A2E6E"/>
                </a:solidFill>
                <a:latin typeface="Be Vietnam Pro" pitchFamily="34" charset="0"/>
                <a:ea typeface="Be Vietnam Pro" pitchFamily="34" charset="-122"/>
                <a:cs typeface="Be Vietnam Pro" pitchFamily="34" charset="-120"/>
              </a:rPr>
              <a:t>mychardev at a glance</a:t>
            </a:r>
            <a:endParaRPr lang="en-US" sz="1500" dirty="0"/>
          </a:p>
        </p:txBody>
      </p:sp>
      <p:sp>
        <p:nvSpPr>
          <p:cNvPr id="26" name="Text 18"/>
          <p:cNvSpPr/>
          <p:nvPr/>
        </p:nvSpPr>
        <p:spPr>
          <a:xfrm>
            <a:off x="8067294" y="2326580"/>
            <a:ext cx="3406394" cy="2253853"/>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3A404A"/>
                </a:solidFill>
                <a:latin typeface="Be Vietnam Pro" pitchFamily="34" charset="0"/>
                <a:ea typeface="Be Vietnam Pro" pitchFamily="34" charset="-122"/>
                <a:cs typeface="Be Vietnam Pro" pitchFamily="34" charset="-120"/>
              </a:rPr>
              <a:t>Misc device: major 10, minor 259 (dynamic)</a:t>
            </a:r>
            <a:endParaRPr lang="en-US" sz="1300" dirty="0"/>
          </a:p>
          <a:p>
            <a:pPr algn="l" marL="162306" indent="-162306">
              <a:lnSpc>
                <a:spcPts val="1755"/>
              </a:lnSpc>
              <a:buSzPct val="100000"/>
              <a:buChar char="•"/>
            </a:pPr>
            <a:r>
              <a:rPr lang="en-US" sz="1300" dirty="0">
                <a:solidFill>
                  <a:srgbClr val="3A404A"/>
                </a:solidFill>
                <a:latin typeface="Be Vietnam Pro" pitchFamily="34" charset="0"/>
                <a:ea typeface="Be Vietnam Pro" pitchFamily="34" charset="-122"/>
                <a:cs typeface="Be Vietnam Pro" pitchFamily="34" charset="-120"/>
              </a:rPr>
              <a:t>/dev/mychardev, permissions 0666</a:t>
            </a:r>
            <a:endParaRPr lang="en-US" sz="1300" dirty="0"/>
          </a:p>
          <a:p>
            <a:pPr algn="l" marL="162306" indent="-162306">
              <a:lnSpc>
                <a:spcPts val="1755"/>
              </a:lnSpc>
              <a:buSzPct val="100000"/>
              <a:buChar char="•"/>
            </a:pPr>
            <a:r>
              <a:rPr lang="en-US" sz="1300" dirty="0">
                <a:solidFill>
                  <a:srgbClr val="3A404A"/>
                </a:solidFill>
                <a:latin typeface="Be Vietnam Pro" pitchFamily="34" charset="0"/>
                <a:ea typeface="Be Vietnam Pro" pitchFamily="34" charset="-122"/>
                <a:cs typeface="Be Vietnam Pro" pitchFamily="34" charset="-120"/>
              </a:rPr>
              <a:t>1024-byte kernel buffer, protected by a mutex</a:t>
            </a:r>
            <a:endParaRPr lang="en-US" sz="1300" dirty="0"/>
          </a:p>
          <a:p>
            <a:pPr algn="l" marL="162306" indent="-162306">
              <a:lnSpc>
                <a:spcPts val="1755"/>
              </a:lnSpc>
              <a:buSzPct val="100000"/>
              <a:buChar char="•"/>
            </a:pPr>
            <a:r>
              <a:rPr lang="en-US" sz="1300" dirty="0">
                <a:solidFill>
                  <a:srgbClr val="3A404A"/>
                </a:solidFill>
                <a:latin typeface="Be Vietnam Pro" pitchFamily="34" charset="0"/>
                <a:ea typeface="Be Vietnam Pro" pitchFamily="34" charset="-122"/>
                <a:cs typeface="Be Vietnam Pro" pitchFamily="34" charset="-120"/>
              </a:rPr>
              <a:t>open, read, write, release, llseek</a:t>
            </a:r>
            <a:endParaRPr lang="en-US" sz="1300" dirty="0"/>
          </a:p>
          <a:p>
            <a:pPr algn="l" marL="162306" indent="-162306">
              <a:lnSpc>
                <a:spcPts val="1755"/>
              </a:lnSpc>
              <a:buSzPct val="100000"/>
              <a:buChar char="•"/>
            </a:pPr>
            <a:r>
              <a:rPr lang="en-US" sz="1300" dirty="0">
                <a:solidFill>
                  <a:srgbClr val="3A404A"/>
                </a:solidFill>
                <a:latin typeface="Be Vietnam Pro" pitchFamily="34" charset="0"/>
                <a:ea typeface="Be Vietnam Pro" pitchFamily="34" charset="-122"/>
                <a:cs typeface="Be Vietnam Pro" pitchFamily="34" charset="-120"/>
              </a:rPr>
              <a:t>Out-of-tree module; recipe inherits module</a:t>
            </a:r>
            <a:endParaRPr lang="en-US" sz="1300" dirty="0"/>
          </a:p>
          <a:p>
            <a:pPr algn="l" marL="162306" indent="-162306">
              <a:lnSpc>
                <a:spcPts val="1755"/>
              </a:lnSpc>
              <a:buSzPct val="100000"/>
              <a:buChar char="•"/>
            </a:pPr>
            <a:r>
              <a:rPr lang="en-US" sz="1300" dirty="0">
                <a:solidFill>
                  <a:srgbClr val="3A404A"/>
                </a:solidFill>
                <a:latin typeface="Be Vietnam Pro" pitchFamily="34" charset="0"/>
                <a:ea typeface="Be Vietnam Pro" pitchFamily="34" charset="-122"/>
                <a:cs typeface="Be Vietnam Pro" pitchFamily="34" charset="-120"/>
              </a:rPr>
              <a:t>QEMU + KVM: qemux86-64, kernel 6.6.151</a:t>
            </a:r>
            <a:endParaRPr lang="en-US" sz="1300" dirty="0"/>
          </a:p>
        </p:txBody>
      </p:sp>
      <p:sp>
        <p:nvSpPr>
          <p:cNvPr id="27"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28"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Single image: native C vs Python (1 thread)</a:t>
            </a:r>
            <a:endParaRPr lang="en-US" sz="2800" dirty="0"/>
          </a:p>
        </p:txBody>
      </p:sp>
      <p:sp>
        <p:nvSpPr>
          <p:cNvPr id="8" name="Text 5"/>
          <p:cNvSpPr/>
          <p:nvPr/>
        </p:nvSpPr>
        <p:spPr>
          <a:xfrm>
            <a:off x="812800" y="2009080"/>
            <a:ext cx="1088339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Both engines predict “military uniform” (class 653, score 227, 89.02% confidence) on the Grace Hopper image.</a:t>
            </a:r>
            <a:endParaRPr lang="en-US" sz="1400" dirty="0"/>
          </a:p>
        </p:txBody>
      </p:sp>
      <p:sp>
        <p:nvSpPr>
          <p:cNvPr id="9" name="Shape 6"/>
          <p:cNvSpPr/>
          <p:nvPr/>
        </p:nvSpPr>
        <p:spPr>
          <a:xfrm>
            <a:off x="11372850" y="2477691"/>
            <a:ext cx="0" cy="2181027"/>
          </a:xfrm>
          <a:prstGeom prst="line">
            <a:avLst/>
          </a:prstGeom>
          <a:noFill/>
          <a:ln w="12700">
            <a:solidFill>
              <a:srgbClr val="111111"/>
            </a:solidFill>
            <a:prstDash val="solid"/>
          </a:ln>
        </p:spPr>
      </p:sp>
      <p:sp>
        <p:nvSpPr>
          <p:cNvPr id="10" name="Shape 7"/>
          <p:cNvSpPr/>
          <p:nvPr/>
        </p:nvSpPr>
        <p:spPr>
          <a:xfrm>
            <a:off x="812800" y="4652367"/>
            <a:ext cx="10566400" cy="0"/>
          </a:xfrm>
          <a:prstGeom prst="line">
            <a:avLst/>
          </a:prstGeom>
          <a:noFill/>
          <a:ln w="12700">
            <a:solidFill>
              <a:srgbClr val="111111"/>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2490391"/>
          <a:ext cx="10541000" cy="2155627"/>
        </p:xfrm>
        <a:graphic>
          <a:graphicData uri="http://schemas.openxmlformats.org/drawingml/2006/table">
            <a:tbl>
              <a:tblPr/>
              <a:tblGrid>
                <a:gridCol w="2529840"/>
                <a:gridCol w="1791970"/>
                <a:gridCol w="1791970"/>
                <a:gridCol w="4427220"/>
              </a:tblGrid>
              <a:tr h="359271">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Metric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Python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Native 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Assessment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Mean inference latency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161.113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160.320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C 0.793 ms faster (0.49% lower)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Median latency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160.397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160.297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Difference of 0.100 ms (0.06% lower)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95th percentile (P95)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162.791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160.539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C has a tighter tail (2.252 ms lower)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Peak RAM (RSS)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31.37 MiB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10.12 MiB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C saves 21.25 MiB (67.7% less memory)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Predicted class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653 (score 227)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653 (score 227)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Exact mathematical match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2800" y="4887317"/>
            <a:ext cx="10883392"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6181D"/>
                </a:solidFill>
                <a:latin typeface="Be Vietnam Pro" pitchFamily="34" charset="0"/>
                <a:ea typeface="Be Vietnam Pro" pitchFamily="34" charset="-122"/>
                <a:cs typeface="Be Vietnam Pro" pitchFamily="34" charset="-120"/>
              </a:rPr>
              <a:t>Same speed, much less memory:</a:t>
            </a:r>
            <a:r>
              <a:rPr lang="en-US" sz="1500" dirty="0">
                <a:solidFill>
                  <a:srgbClr val="16181D"/>
                </a:solidFill>
                <a:latin typeface="Be Vietnam Pro" pitchFamily="34" charset="0"/>
                <a:ea typeface="Be Vietnam Pro" pitchFamily="34" charset="-122"/>
                <a:cs typeface="Be Vietnam Pro" pitchFamily="34" charset="-120"/>
              </a:rPr>
              <a:t> the heavy math runs in the shared TensorFlow Lite C++ library; Python’s overhead is the interpreter’s memory.</a:t>
            </a:r>
            <a:endParaRPr lang="en-US" sz="1500" dirty="0"/>
          </a:p>
        </p:txBody>
      </p:sp>
      <p:sp>
        <p:nvSpPr>
          <p:cNvPr id="13"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14"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Multi-core scaling: 1, 2 and 4 threads</a:t>
            </a:r>
            <a:endParaRPr lang="en-US" sz="2800" dirty="0"/>
          </a:p>
        </p:txBody>
      </p:sp>
      <p:sp>
        <p:nvSpPr>
          <p:cNvPr id="8" name="Shape 5"/>
          <p:cNvSpPr/>
          <p:nvPr/>
        </p:nvSpPr>
        <p:spPr>
          <a:xfrm>
            <a:off x="11372850" y="2009080"/>
            <a:ext cx="0" cy="1569244"/>
          </a:xfrm>
          <a:prstGeom prst="line">
            <a:avLst/>
          </a:prstGeom>
          <a:noFill/>
          <a:ln w="12700">
            <a:solidFill>
              <a:srgbClr val="111111"/>
            </a:solidFill>
            <a:prstDash val="solid"/>
          </a:ln>
        </p:spPr>
      </p:sp>
      <p:sp>
        <p:nvSpPr>
          <p:cNvPr id="9" name="Shape 6"/>
          <p:cNvSpPr/>
          <p:nvPr/>
        </p:nvSpPr>
        <p:spPr>
          <a:xfrm>
            <a:off x="812800" y="3571974"/>
            <a:ext cx="10566400" cy="0"/>
          </a:xfrm>
          <a:prstGeom prst="line">
            <a:avLst/>
          </a:prstGeom>
          <a:noFill/>
          <a:ln w="12700">
            <a:solidFill>
              <a:srgbClr val="111111"/>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021780"/>
          <a:ext cx="10541000" cy="1543844"/>
        </p:xfrm>
        <a:graphic>
          <a:graphicData uri="http://schemas.openxmlformats.org/drawingml/2006/table">
            <a:tbl>
              <a:tblPr/>
              <a:tblGrid>
                <a:gridCol w="2529840"/>
                <a:gridCol w="1791970"/>
                <a:gridCol w="1791970"/>
                <a:gridCol w="2108200"/>
                <a:gridCol w="2319020"/>
              </a:tblGrid>
              <a:tr h="385961">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Threads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Python</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Native C</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Speedup (C)</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11111"/>
                          </a:solidFill>
                          <a:latin typeface="Be Vietnam Pro" pitchFamily="34" charset="0"/>
                          <a:ea typeface="Be Vietnam Pro" pitchFamily="34" charset="-122"/>
                          <a:cs typeface="Be Vietnam Pro" pitchFamily="34" charset="-120"/>
                        </a:rPr>
                        <a:t>CPU usage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1 thread (1 core)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161.030 ms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159.138 ms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1.00× (baseline)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99.93% (1 core)</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2 threads (2 cores)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83.459 ms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82.799 ms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1.92×</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199.89% (2 cores)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4 threads (4 cores)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44.219 ms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43.326 ms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3.67×</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Be Vietnam Pro" pitchFamily="34" charset="0"/>
                          <a:ea typeface="Be Vietnam Pro" pitchFamily="34" charset="-122"/>
                          <a:cs typeface="Be Vietnam Pro" pitchFamily="34" charset="-120"/>
                        </a:rPr>
                        <a:t>398.98% (4 cores)</a:t>
                      </a:r>
                      <a:endParaRPr lang="en-US" sz="1400" dirty="0">
                        <a:latin typeface="Be Vietnam Pro" charset="0"/>
                        <a:ea typeface="Be Vietnam Pro" charset="0"/>
                        <a:cs typeface="Be Vietnam Pro"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Shape 7"/>
          <p:cNvSpPr/>
          <p:nvPr/>
        </p:nvSpPr>
        <p:spPr>
          <a:xfrm>
            <a:off x="812800" y="3825974"/>
            <a:ext cx="3386634" cy="0"/>
          </a:xfrm>
          <a:prstGeom prst="line">
            <a:avLst/>
          </a:prstGeom>
          <a:noFill/>
          <a:ln w="38100">
            <a:solidFill>
              <a:srgbClr val="0A2E6E"/>
            </a:solidFill>
            <a:prstDash val="solid"/>
          </a:ln>
        </p:spPr>
      </p:sp>
      <p:sp>
        <p:nvSpPr>
          <p:cNvPr id="12" name="Text 8"/>
          <p:cNvSpPr/>
          <p:nvPr/>
        </p:nvSpPr>
        <p:spPr>
          <a:xfrm>
            <a:off x="812800" y="3997424"/>
            <a:ext cx="348823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A2E6E"/>
                </a:solidFill>
                <a:latin typeface="Be Vietnam Pro" pitchFamily="34" charset="0"/>
                <a:ea typeface="Be Vietnam Pro" pitchFamily="34" charset="-122"/>
                <a:cs typeface="Be Vietnam Pro" pitchFamily="34" charset="-120"/>
              </a:rPr>
              <a:t>3.67×</a:t>
            </a:r>
            <a:endParaRPr lang="en-US" sz="4400" dirty="0"/>
          </a:p>
        </p:txBody>
      </p:sp>
      <p:sp>
        <p:nvSpPr>
          <p:cNvPr id="13" name="Text 9"/>
          <p:cNvSpPr/>
          <p:nvPr/>
        </p:nvSpPr>
        <p:spPr>
          <a:xfrm>
            <a:off x="812800" y="4607024"/>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speedup of native C with 4 threads, close to the ideal 4×</a:t>
            </a:r>
            <a:endParaRPr lang="en-US" sz="1400" dirty="0"/>
          </a:p>
        </p:txBody>
      </p:sp>
      <p:sp>
        <p:nvSpPr>
          <p:cNvPr id="14" name="Shape 10"/>
          <p:cNvSpPr/>
          <p:nvPr/>
        </p:nvSpPr>
        <p:spPr>
          <a:xfrm>
            <a:off x="4402634" y="3825974"/>
            <a:ext cx="3386634" cy="0"/>
          </a:xfrm>
          <a:prstGeom prst="line">
            <a:avLst/>
          </a:prstGeom>
          <a:noFill/>
          <a:ln w="38100">
            <a:solidFill>
              <a:srgbClr val="0A2E6E"/>
            </a:solidFill>
            <a:prstDash val="solid"/>
          </a:ln>
        </p:spPr>
      </p:sp>
      <p:sp>
        <p:nvSpPr>
          <p:cNvPr id="15" name="Text 11"/>
          <p:cNvSpPr/>
          <p:nvPr/>
        </p:nvSpPr>
        <p:spPr>
          <a:xfrm>
            <a:off x="4402634" y="3997424"/>
            <a:ext cx="348823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A2E6E"/>
                </a:solidFill>
                <a:latin typeface="Be Vietnam Pro" pitchFamily="34" charset="0"/>
                <a:ea typeface="Be Vietnam Pro" pitchFamily="34" charset="-122"/>
                <a:cs typeface="Be Vietnam Pro" pitchFamily="34" charset="-120"/>
              </a:rPr>
              <a:t>72.8%</a:t>
            </a:r>
            <a:endParaRPr lang="en-US" sz="4400" dirty="0"/>
          </a:p>
        </p:txBody>
      </p:sp>
      <p:sp>
        <p:nvSpPr>
          <p:cNvPr id="16" name="Text 12"/>
          <p:cNvSpPr/>
          <p:nvPr/>
        </p:nvSpPr>
        <p:spPr>
          <a:xfrm>
            <a:off x="4402634" y="4607024"/>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lower latency for C (72.5% for Python), no retraining or pruning</a:t>
            </a:r>
            <a:endParaRPr lang="en-US" sz="1400" dirty="0"/>
          </a:p>
        </p:txBody>
      </p:sp>
      <p:sp>
        <p:nvSpPr>
          <p:cNvPr id="17" name="Shape 13"/>
          <p:cNvSpPr/>
          <p:nvPr/>
        </p:nvSpPr>
        <p:spPr>
          <a:xfrm>
            <a:off x="7992467" y="3825974"/>
            <a:ext cx="3386634" cy="0"/>
          </a:xfrm>
          <a:prstGeom prst="line">
            <a:avLst/>
          </a:prstGeom>
          <a:noFill/>
          <a:ln w="38100">
            <a:solidFill>
              <a:srgbClr val="0A2E6E"/>
            </a:solidFill>
            <a:prstDash val="solid"/>
          </a:ln>
        </p:spPr>
      </p:sp>
      <p:sp>
        <p:nvSpPr>
          <p:cNvPr id="18" name="Text 14"/>
          <p:cNvSpPr/>
          <p:nvPr/>
        </p:nvSpPr>
        <p:spPr>
          <a:xfrm>
            <a:off x="7992467" y="3997424"/>
            <a:ext cx="3488233"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0A2E6E"/>
                </a:solidFill>
                <a:latin typeface="Be Vietnam Pro" pitchFamily="34" charset="0"/>
                <a:ea typeface="Be Vietnam Pro" pitchFamily="34" charset="-122"/>
                <a:cs typeface="Be Vietnam Pro" pitchFamily="34" charset="-120"/>
              </a:rPr>
              <a:t>~4 cores</a:t>
            </a:r>
            <a:endParaRPr lang="en-US" sz="4400" dirty="0"/>
          </a:p>
        </p:txBody>
      </p:sp>
      <p:sp>
        <p:nvSpPr>
          <p:cNvPr id="19" name="Text 15"/>
          <p:cNvSpPr/>
          <p:nvPr/>
        </p:nvSpPr>
        <p:spPr>
          <a:xfrm>
            <a:off x="7992467" y="4607024"/>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CPU usage grows almost linearly, from 99.93% to 398.98%</a:t>
            </a:r>
            <a:endParaRPr lang="en-US" sz="1400" dirty="0"/>
          </a:p>
        </p:txBody>
      </p:sp>
      <p:sp>
        <p:nvSpPr>
          <p:cNvPr id="20"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21"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Benchmark on 1,000 Imagenette images</a:t>
            </a:r>
            <a:endParaRPr lang="en-US" sz="2800" dirty="0"/>
          </a:p>
        </p:txBody>
      </p:sp>
      <p:sp>
        <p:nvSpPr>
          <p:cNvPr id="8" name="Shape 5"/>
          <p:cNvSpPr/>
          <p:nvPr/>
        </p:nvSpPr>
        <p:spPr>
          <a:xfrm>
            <a:off x="11372850" y="1958280"/>
            <a:ext cx="0" cy="2181027"/>
          </a:xfrm>
          <a:prstGeom prst="line">
            <a:avLst/>
          </a:prstGeom>
          <a:noFill/>
          <a:ln w="12700">
            <a:solidFill>
              <a:srgbClr val="111111"/>
            </a:solidFill>
            <a:prstDash val="solid"/>
          </a:ln>
        </p:spPr>
      </p:sp>
      <p:sp>
        <p:nvSpPr>
          <p:cNvPr id="9" name="Shape 6"/>
          <p:cNvSpPr/>
          <p:nvPr/>
        </p:nvSpPr>
        <p:spPr>
          <a:xfrm>
            <a:off x="812800" y="4132957"/>
            <a:ext cx="10566400" cy="0"/>
          </a:xfrm>
          <a:prstGeom prst="line">
            <a:avLst/>
          </a:prstGeom>
          <a:noFill/>
          <a:ln w="12700">
            <a:solidFill>
              <a:srgbClr val="111111"/>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970980"/>
          <a:ext cx="10541000" cy="2155627"/>
        </p:xfrm>
        <a:graphic>
          <a:graphicData uri="http://schemas.openxmlformats.org/drawingml/2006/table">
            <a:tbl>
              <a:tblPr/>
              <a:tblGrid>
                <a:gridCol w="2951480"/>
                <a:gridCol w="1897380"/>
                <a:gridCol w="1897380"/>
                <a:gridCol w="1897380"/>
                <a:gridCol w="1897380"/>
              </a:tblGrid>
              <a:tr h="359271">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Metric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Python, 1 thread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Native C, 1 thread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Python, 4 threads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Native C, 4 threads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Total time (1,000 images)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164.399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162.040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47.184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46.402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Mean inference latency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161.011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159.312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43.957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43.672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Throughput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6.083 images/s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6.171 images/s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21.193 images/s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21.551 images/s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CPU usage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99.89%</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99.93%</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390.20%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394.07%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Peak memory (RSS)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33.72 MiB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10.25 MiB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33.72 MiB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10.25 MiB</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Shape 7"/>
          <p:cNvSpPr/>
          <p:nvPr/>
        </p:nvSpPr>
        <p:spPr>
          <a:xfrm>
            <a:off x="812800" y="4336157"/>
            <a:ext cx="3386634" cy="0"/>
          </a:xfrm>
          <a:prstGeom prst="line">
            <a:avLst/>
          </a:prstGeom>
          <a:noFill/>
          <a:ln w="38100">
            <a:solidFill>
              <a:srgbClr val="0A2E6E"/>
            </a:solidFill>
            <a:prstDash val="solid"/>
          </a:ln>
        </p:spPr>
      </p:sp>
      <p:sp>
        <p:nvSpPr>
          <p:cNvPr id="12" name="Text 8"/>
          <p:cNvSpPr/>
          <p:nvPr/>
        </p:nvSpPr>
        <p:spPr>
          <a:xfrm>
            <a:off x="812800" y="4482207"/>
            <a:ext cx="34882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A2E6E"/>
                </a:solidFill>
                <a:latin typeface="Be Vietnam Pro" pitchFamily="34" charset="0"/>
                <a:ea typeface="Be Vietnam Pro" pitchFamily="34" charset="-122"/>
                <a:cs typeface="Be Vietnam Pro" pitchFamily="34" charset="-120"/>
              </a:rPr>
              <a:t>21.55/s</a:t>
            </a:r>
            <a:endParaRPr lang="en-US" sz="3600" dirty="0"/>
          </a:p>
        </p:txBody>
      </p:sp>
      <p:sp>
        <p:nvSpPr>
          <p:cNvPr id="13" name="Text 9"/>
          <p:cNvSpPr/>
          <p:nvPr/>
        </p:nvSpPr>
        <p:spPr>
          <a:xfrm>
            <a:off x="812800" y="4990207"/>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native C, 4 threads: above the 20 images/s target</a:t>
            </a:r>
            <a:endParaRPr lang="en-US" sz="1400" dirty="0"/>
          </a:p>
        </p:txBody>
      </p:sp>
      <p:sp>
        <p:nvSpPr>
          <p:cNvPr id="14" name="Shape 10"/>
          <p:cNvSpPr/>
          <p:nvPr/>
        </p:nvSpPr>
        <p:spPr>
          <a:xfrm>
            <a:off x="4402634" y="4336157"/>
            <a:ext cx="3386634" cy="0"/>
          </a:xfrm>
          <a:prstGeom prst="line">
            <a:avLst/>
          </a:prstGeom>
          <a:noFill/>
          <a:ln w="38100">
            <a:solidFill>
              <a:srgbClr val="0A2E6E"/>
            </a:solidFill>
            <a:prstDash val="solid"/>
          </a:ln>
        </p:spPr>
      </p:sp>
      <p:sp>
        <p:nvSpPr>
          <p:cNvPr id="15" name="Text 11"/>
          <p:cNvSpPr/>
          <p:nvPr/>
        </p:nvSpPr>
        <p:spPr>
          <a:xfrm>
            <a:off x="4402634" y="4482207"/>
            <a:ext cx="34882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A2E6E"/>
                </a:solidFill>
                <a:latin typeface="Be Vietnam Pro" pitchFamily="34" charset="0"/>
                <a:ea typeface="Be Vietnam Pro" pitchFamily="34" charset="-122"/>
                <a:cs typeface="Be Vietnam Pro" pitchFamily="34" charset="-120"/>
              </a:rPr>
              <a:t>~71%</a:t>
            </a:r>
            <a:endParaRPr lang="en-US" sz="3600" dirty="0"/>
          </a:p>
        </p:txBody>
      </p:sp>
      <p:sp>
        <p:nvSpPr>
          <p:cNvPr id="16" name="Text 12"/>
          <p:cNvSpPr/>
          <p:nvPr/>
        </p:nvSpPr>
        <p:spPr>
          <a:xfrm>
            <a:off x="4402634" y="4990207"/>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less total time with 4 threads: ~164 s → 46–47 s</a:t>
            </a:r>
            <a:endParaRPr lang="en-US" sz="1400" dirty="0"/>
          </a:p>
        </p:txBody>
      </p:sp>
      <p:sp>
        <p:nvSpPr>
          <p:cNvPr id="17" name="Shape 13"/>
          <p:cNvSpPr/>
          <p:nvPr/>
        </p:nvSpPr>
        <p:spPr>
          <a:xfrm>
            <a:off x="7992467" y="4336157"/>
            <a:ext cx="3386634" cy="0"/>
          </a:xfrm>
          <a:prstGeom prst="line">
            <a:avLst/>
          </a:prstGeom>
          <a:noFill/>
          <a:ln w="38100">
            <a:solidFill>
              <a:srgbClr val="0A2E6E"/>
            </a:solidFill>
            <a:prstDash val="solid"/>
          </a:ln>
        </p:spPr>
      </p:sp>
      <p:sp>
        <p:nvSpPr>
          <p:cNvPr id="18" name="Text 14"/>
          <p:cNvSpPr/>
          <p:nvPr/>
        </p:nvSpPr>
        <p:spPr>
          <a:xfrm>
            <a:off x="7992467" y="4482207"/>
            <a:ext cx="34882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A2E6E"/>
                </a:solidFill>
                <a:latin typeface="Be Vietnam Pro" pitchFamily="34" charset="0"/>
                <a:ea typeface="Be Vietnam Pro" pitchFamily="34" charset="-122"/>
                <a:cs typeface="Be Vietnam Pro" pitchFamily="34" charset="-120"/>
              </a:rPr>
              <a:t>30.4%</a:t>
            </a:r>
            <a:endParaRPr lang="en-US" sz="3600" dirty="0"/>
          </a:p>
        </p:txBody>
      </p:sp>
      <p:sp>
        <p:nvSpPr>
          <p:cNvPr id="19" name="Text 15"/>
          <p:cNvSpPr/>
          <p:nvPr/>
        </p:nvSpPr>
        <p:spPr>
          <a:xfrm>
            <a:off x="7992467" y="4990207"/>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of Python’s memory for C (10.25 vs 33.72 MiB)</a:t>
            </a:r>
            <a:endParaRPr lang="en-US" sz="1400" dirty="0"/>
          </a:p>
        </p:txBody>
      </p:sp>
      <p:sp>
        <p:nvSpPr>
          <p:cNvPr id="20"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21"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Bottleneck: inference dominates each image</a:t>
            </a:r>
            <a:endParaRPr lang="en-US" sz="2800" dirty="0"/>
          </a:p>
        </p:txBody>
      </p:sp>
      <p:sp>
        <p:nvSpPr>
          <p:cNvPr id="8" name="Shape 5"/>
          <p:cNvSpPr/>
          <p:nvPr/>
        </p:nvSpPr>
        <p:spPr>
          <a:xfrm>
            <a:off x="819150" y="1990030"/>
            <a:ext cx="2019300" cy="800100"/>
          </a:xfrm>
          <a:prstGeom prst="rect">
            <a:avLst/>
          </a:prstGeom>
          <a:solidFill>
            <a:srgbClr val="FFFFFF"/>
          </a:solidFill>
          <a:ln w="12700">
            <a:solidFill>
              <a:srgbClr val="111111"/>
            </a:solidFill>
            <a:prstDash val="solid"/>
          </a:ln>
        </p:spPr>
      </p:sp>
      <p:sp>
        <p:nvSpPr>
          <p:cNvPr id="9" name="Text 6"/>
          <p:cNvSpPr/>
          <p:nvPr/>
        </p:nvSpPr>
        <p:spPr>
          <a:xfrm>
            <a:off x="850900" y="2072580"/>
            <a:ext cx="1955800" cy="431800"/>
          </a:xfrm>
          <a:prstGeom prst="rect">
            <a:avLst/>
          </a:prstGeom>
          <a:noFill/>
          <a:ln/>
        </p:spPr>
        <p:txBody>
          <a:bodyPr wrap="square" lIns="0" tIns="0" rIns="0" bIns="0" rtlCol="0" anchor="t">
            <a:normAutofit/>
          </a:bodyPr>
          <a:lstStyle/>
          <a:p>
            <a:pPr algn="ctr" indent="0" marL="0">
              <a:lnSpc>
                <a:spcPts val="1675"/>
              </a:lnSpc>
              <a:buNone/>
            </a:pPr>
            <a:r>
              <a:rPr lang="en-US" sz="1196" b="1" dirty="0">
                <a:solidFill>
                  <a:srgbClr val="111111"/>
                </a:solidFill>
                <a:latin typeface="Be Vietnam Pro" pitchFamily="34" charset="0"/>
                <a:ea typeface="Be Vietnam Pro" pitchFamily="34" charset="-122"/>
                <a:cs typeface="Be Vietnam Pro" pitchFamily="34" charset="-120"/>
              </a:rPr>
              <a:t>1. Read and decompress</a:t>
            </a:r>
            <a:endParaRPr lang="en-US" sz="1196" dirty="0"/>
          </a:p>
        </p:txBody>
      </p:sp>
      <p:sp>
        <p:nvSpPr>
          <p:cNvPr id="10" name="Text 7"/>
          <p:cNvSpPr/>
          <p:nvPr/>
        </p:nvSpPr>
        <p:spPr>
          <a:xfrm>
            <a:off x="873887" y="2504380"/>
            <a:ext cx="1909826" cy="228600"/>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111111"/>
                </a:solidFill>
                <a:latin typeface="Be Vietnam Pro" pitchFamily="34" charset="0"/>
                <a:ea typeface="Be Vietnam Pro" pitchFamily="34" charset="-122"/>
                <a:cs typeface="Be Vietnam Pro" pitchFamily="34" charset="-120"/>
              </a:rPr>
              <a:t>(zlib / gzip)</a:t>
            </a:r>
            <a:endParaRPr lang="en-US" sz="1159" dirty="0"/>
          </a:p>
        </p:txBody>
      </p:sp>
      <p:sp>
        <p:nvSpPr>
          <p:cNvPr id="11" name="Text 8"/>
          <p:cNvSpPr/>
          <p:nvPr/>
        </p:nvSpPr>
        <p:spPr>
          <a:xfrm>
            <a:off x="3663950" y="1990030"/>
            <a:ext cx="2019300" cy="800100"/>
          </a:xfrm>
          <a:prstGeom prst="rect">
            <a:avLst/>
          </a:prstGeom>
          <a:solidFill>
            <a:srgbClr val="FFFFFF"/>
          </a:solidFill>
          <a:ln w="12700">
            <a:solidFill>
              <a:srgbClr val="111111"/>
            </a:solidFill>
            <a:prstDash val="solid"/>
          </a:ln>
        </p:spPr>
        <p:txBody>
          <a:bodyPr wrap="square" lIns="54737" tIns="82550" rIns="54737" bIns="82550" rtlCol="0" anchor="ctr">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2. Copy input tensor</a:t>
            </a:r>
            <a:endParaRPr lang="en-US" sz="1200" dirty="0"/>
          </a:p>
        </p:txBody>
      </p:sp>
      <p:sp>
        <p:nvSpPr>
          <p:cNvPr id="12" name="Shape 9"/>
          <p:cNvSpPr/>
          <p:nvPr/>
        </p:nvSpPr>
        <p:spPr>
          <a:xfrm>
            <a:off x="6518275" y="1999555"/>
            <a:ext cx="2000250" cy="781050"/>
          </a:xfrm>
          <a:prstGeom prst="rect">
            <a:avLst/>
          </a:prstGeom>
          <a:solidFill>
            <a:srgbClr val="FFFFFF"/>
          </a:solidFill>
          <a:ln w="31750">
            <a:solidFill>
              <a:srgbClr val="111111"/>
            </a:solidFill>
            <a:prstDash val="solid"/>
          </a:ln>
        </p:spPr>
      </p:sp>
      <p:sp>
        <p:nvSpPr>
          <p:cNvPr id="13" name="Text 10"/>
          <p:cNvSpPr/>
          <p:nvPr/>
        </p:nvSpPr>
        <p:spPr>
          <a:xfrm>
            <a:off x="6583109" y="2164060"/>
            <a:ext cx="1870583"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3. Inference</a:t>
            </a:r>
            <a:endParaRPr lang="en-US" sz="1200" dirty="0"/>
          </a:p>
        </p:txBody>
      </p:sp>
      <p:sp>
        <p:nvSpPr>
          <p:cNvPr id="14" name="Text 11"/>
          <p:cNvSpPr/>
          <p:nvPr/>
        </p:nvSpPr>
        <p:spPr>
          <a:xfrm>
            <a:off x="6583109" y="2402780"/>
            <a:ext cx="1870583"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(MobileNet V1)</a:t>
            </a:r>
            <a:endParaRPr lang="en-US" sz="1200" dirty="0"/>
          </a:p>
        </p:txBody>
      </p:sp>
      <p:sp>
        <p:nvSpPr>
          <p:cNvPr id="15" name="Shape 12"/>
          <p:cNvSpPr/>
          <p:nvPr/>
        </p:nvSpPr>
        <p:spPr>
          <a:xfrm>
            <a:off x="9353550" y="1990030"/>
            <a:ext cx="2019300" cy="800100"/>
          </a:xfrm>
          <a:prstGeom prst="rect">
            <a:avLst/>
          </a:prstGeom>
          <a:solidFill>
            <a:srgbClr val="FFFFFF"/>
          </a:solidFill>
          <a:ln w="12700">
            <a:solidFill>
              <a:srgbClr val="111111"/>
            </a:solidFill>
            <a:prstDash val="solid"/>
          </a:ln>
        </p:spPr>
      </p:sp>
      <p:sp>
        <p:nvSpPr>
          <p:cNvPr id="16" name="Text 13"/>
          <p:cNvSpPr/>
          <p:nvPr/>
        </p:nvSpPr>
        <p:spPr>
          <a:xfrm>
            <a:off x="9408287" y="2164060"/>
            <a:ext cx="190982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4. Post-processing</a:t>
            </a:r>
            <a:endParaRPr lang="en-US" sz="1200" dirty="0"/>
          </a:p>
        </p:txBody>
      </p:sp>
      <p:sp>
        <p:nvSpPr>
          <p:cNvPr id="17" name="Text 14"/>
          <p:cNvSpPr/>
          <p:nvPr/>
        </p:nvSpPr>
        <p:spPr>
          <a:xfrm>
            <a:off x="9408287" y="2402780"/>
            <a:ext cx="190982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(Top-1, Top-5)</a:t>
            </a:r>
            <a:endParaRPr lang="en-US" sz="1200" dirty="0"/>
          </a:p>
        </p:txBody>
      </p:sp>
      <p:pic>
        <p:nvPicPr>
          <p:cNvPr id="18" name="Image 1" descr="connector">    </p:cNvPr>
          <p:cNvPicPr>
            <a:picLocks noChangeAspect="1"/>
          </p:cNvPicPr>
          <p:nvPr/>
        </p:nvPicPr>
        <p:blipFill>
          <a:blip r:embed="rId2"/>
          <a:srcRect l="0" r="0" t="0" b="0"/>
          <a:stretch/>
        </p:blipFill>
        <p:spPr>
          <a:xfrm>
            <a:off x="2806700" y="2351980"/>
            <a:ext cx="889000" cy="76200"/>
          </a:xfrm>
          <a:prstGeom prst="rect">
            <a:avLst/>
          </a:prstGeom>
        </p:spPr>
      </p:pic>
      <p:pic>
        <p:nvPicPr>
          <p:cNvPr id="19" name="Image 2" descr="connector">    </p:cNvPr>
          <p:cNvPicPr>
            <a:picLocks noChangeAspect="1"/>
          </p:cNvPicPr>
          <p:nvPr/>
        </p:nvPicPr>
        <p:blipFill>
          <a:blip r:embed="rId3"/>
          <a:srcRect l="0" r="0" t="0" b="0"/>
          <a:stretch/>
        </p:blipFill>
        <p:spPr>
          <a:xfrm>
            <a:off x="5651500" y="2351980"/>
            <a:ext cx="889000" cy="76200"/>
          </a:xfrm>
          <a:prstGeom prst="rect">
            <a:avLst/>
          </a:prstGeom>
        </p:spPr>
      </p:pic>
      <p:pic>
        <p:nvPicPr>
          <p:cNvPr id="20" name="Image 3" descr="connector">    </p:cNvPr>
          <p:cNvPicPr>
            <a:picLocks noChangeAspect="1"/>
          </p:cNvPicPr>
          <p:nvPr/>
        </p:nvPicPr>
        <p:blipFill>
          <a:blip r:embed="rId4"/>
          <a:srcRect l="0" r="0" t="0" b="0"/>
          <a:stretch/>
        </p:blipFill>
        <p:spPr>
          <a:xfrm>
            <a:off x="8496300" y="2351980"/>
            <a:ext cx="889000" cy="76200"/>
          </a:xfrm>
          <a:prstGeom prst="rect">
            <a:avLst/>
          </a:prstGeom>
        </p:spPr>
      </p:pic>
      <p:sp>
        <p:nvSpPr>
          <p:cNvPr id="21" name="Text 15"/>
          <p:cNvSpPr/>
          <p:nvPr/>
        </p:nvSpPr>
        <p:spPr>
          <a:xfrm>
            <a:off x="782320" y="2898080"/>
            <a:ext cx="2092960"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2.658 ms</a:t>
            </a:r>
            <a:endParaRPr lang="en-US" sz="1300" dirty="0"/>
          </a:p>
        </p:txBody>
      </p:sp>
      <p:sp>
        <p:nvSpPr>
          <p:cNvPr id="22" name="Text 16"/>
          <p:cNvSpPr/>
          <p:nvPr/>
        </p:nvSpPr>
        <p:spPr>
          <a:xfrm>
            <a:off x="3627120" y="2898080"/>
            <a:ext cx="2092960"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0.060 ms</a:t>
            </a:r>
            <a:endParaRPr lang="en-US" sz="1300" dirty="0"/>
          </a:p>
        </p:txBody>
      </p:sp>
      <p:sp>
        <p:nvSpPr>
          <p:cNvPr id="23" name="Text 17"/>
          <p:cNvSpPr/>
          <p:nvPr/>
        </p:nvSpPr>
        <p:spPr>
          <a:xfrm>
            <a:off x="6471920" y="2898080"/>
            <a:ext cx="2092960" cy="25648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159.312 ms (98.32%)</a:t>
            </a:r>
            <a:endParaRPr lang="en-US" sz="1300" dirty="0"/>
          </a:p>
        </p:txBody>
      </p:sp>
      <p:sp>
        <p:nvSpPr>
          <p:cNvPr id="24" name="Text 18"/>
          <p:cNvSpPr/>
          <p:nvPr/>
        </p:nvSpPr>
        <p:spPr>
          <a:xfrm>
            <a:off x="9316720" y="2898080"/>
            <a:ext cx="2092960"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0.006 ms</a:t>
            </a:r>
            <a:endParaRPr lang="en-US" sz="1300" dirty="0"/>
          </a:p>
        </p:txBody>
      </p:sp>
      <p:sp>
        <p:nvSpPr>
          <p:cNvPr id="25" name="Shape 19"/>
          <p:cNvSpPr/>
          <p:nvPr/>
        </p:nvSpPr>
        <p:spPr>
          <a:xfrm>
            <a:off x="11372850" y="3329880"/>
            <a:ext cx="0" cy="1462484"/>
          </a:xfrm>
          <a:prstGeom prst="line">
            <a:avLst/>
          </a:prstGeom>
          <a:noFill/>
          <a:ln w="12700">
            <a:solidFill>
              <a:srgbClr val="111111"/>
            </a:solidFill>
            <a:prstDash val="solid"/>
          </a:ln>
        </p:spPr>
      </p:sp>
      <p:sp>
        <p:nvSpPr>
          <p:cNvPr id="26" name="Shape 20"/>
          <p:cNvSpPr/>
          <p:nvPr/>
        </p:nvSpPr>
        <p:spPr>
          <a:xfrm>
            <a:off x="812800" y="4786015"/>
            <a:ext cx="10566400" cy="0"/>
          </a:xfrm>
          <a:prstGeom prst="line">
            <a:avLst/>
          </a:prstGeom>
          <a:noFill/>
          <a:ln w="12700">
            <a:solidFill>
              <a:srgbClr val="111111"/>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25500" y="3342580"/>
          <a:ext cx="10541000" cy="1437084"/>
        </p:xfrm>
        <a:graphic>
          <a:graphicData uri="http://schemas.openxmlformats.org/drawingml/2006/table">
            <a:tbl>
              <a:tblPr/>
              <a:tblGrid>
                <a:gridCol w="2951480"/>
                <a:gridCol w="1897380"/>
                <a:gridCol w="1897380"/>
                <a:gridCol w="1897380"/>
                <a:gridCol w="1897380"/>
              </a:tblGrid>
              <a:tr h="359271">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Per image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Python, 1 thread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Native C, 1 thread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Python, 4 threads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Native C, 4 threads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Total latency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164.329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162.036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47.117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46.398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Inference (MobileNet)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161.011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159.312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43.957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43.672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Share of inference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97.98%</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98.32%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93.30%</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94.12%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8" name="Text 21"/>
          <p:cNvSpPr/>
          <p:nvPr/>
        </p:nvSpPr>
        <p:spPr>
          <a:xfrm>
            <a:off x="812800" y="4995565"/>
            <a:ext cx="108833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181D"/>
                </a:solidFill>
                <a:latin typeface="Be Vietnam Pro" pitchFamily="34" charset="0"/>
                <a:ea typeface="Be Vietnam Pro" pitchFamily="34" charset="-122"/>
                <a:cs typeface="Be Vietnam Pro" pitchFamily="34" charset="-120"/>
              </a:rPr>
              <a:t>Times under the boxes: native C, 1 thread. Reading, copying and post-processing take </a:t>
            </a:r>
            <a:r>
              <a:rPr lang="en-US" sz="1400" b="1" dirty="0">
                <a:solidFill>
                  <a:srgbClr val="16181D"/>
                </a:solidFill>
                <a:latin typeface="Be Vietnam Pro" pitchFamily="34" charset="0"/>
                <a:ea typeface="Be Vietnam Pro" pitchFamily="34" charset="-122"/>
                <a:cs typeface="Be Vietnam Pro" pitchFamily="34" charset="-120"/>
              </a:rPr>
              <a:t>under 6.7%</a:t>
            </a:r>
            <a:r>
              <a:rPr lang="en-US" sz="1400" dirty="0">
                <a:solidFill>
                  <a:srgbClr val="16181D"/>
                </a:solidFill>
                <a:latin typeface="Be Vietnam Pro" pitchFamily="34" charset="0"/>
                <a:ea typeface="Be Vietnam Pro" pitchFamily="34" charset="-122"/>
                <a:cs typeface="Be Vietnam Pro" pitchFamily="34" charset="-120"/>
              </a:rPr>
              <a:t> of the time, so CPU arithmetic is the bottleneck and multi-core threading is the best lever.</a:t>
            </a:r>
            <a:endParaRPr lang="en-US" sz="1400" dirty="0"/>
          </a:p>
        </p:txBody>
      </p:sp>
      <p:sp>
        <p:nvSpPr>
          <p:cNvPr id="29"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30"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CPU governor and model accuracy</a:t>
            </a:r>
            <a:endParaRPr lang="en-US" sz="2800" dirty="0"/>
          </a:p>
        </p:txBody>
      </p:sp>
      <p:sp>
        <p:nvSpPr>
          <p:cNvPr id="8" name="Shape 5"/>
          <p:cNvSpPr/>
          <p:nvPr/>
        </p:nvSpPr>
        <p:spPr>
          <a:xfrm>
            <a:off x="11372850" y="1983680"/>
            <a:ext cx="0" cy="2181027"/>
          </a:xfrm>
          <a:prstGeom prst="line">
            <a:avLst/>
          </a:prstGeom>
          <a:noFill/>
          <a:ln w="12700">
            <a:solidFill>
              <a:srgbClr val="111111"/>
            </a:solidFill>
            <a:prstDash val="solid"/>
          </a:ln>
        </p:spPr>
      </p:sp>
      <p:sp>
        <p:nvSpPr>
          <p:cNvPr id="9" name="Shape 6"/>
          <p:cNvSpPr/>
          <p:nvPr/>
        </p:nvSpPr>
        <p:spPr>
          <a:xfrm>
            <a:off x="812800" y="4158357"/>
            <a:ext cx="10566400" cy="0"/>
          </a:xfrm>
          <a:prstGeom prst="line">
            <a:avLst/>
          </a:prstGeom>
          <a:noFill/>
          <a:ln w="12700">
            <a:solidFill>
              <a:srgbClr val="111111"/>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996380"/>
          <a:ext cx="10541000" cy="2155627"/>
        </p:xfrm>
        <a:graphic>
          <a:graphicData uri="http://schemas.openxmlformats.org/drawingml/2006/table">
            <a:tbl>
              <a:tblPr/>
              <a:tblGrid>
                <a:gridCol w="3794760"/>
                <a:gridCol w="1686560"/>
                <a:gridCol w="1686560"/>
                <a:gridCol w="3373120"/>
              </a:tblGrid>
              <a:tr h="359271">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Configuration and metric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ondemand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performance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Impact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Python 4 threads: mean latency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44.011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43.860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−0.151 ms (0.34% better)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Python 4 threads: total time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47.402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47.012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−0.390 s (0.82% better)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Native C 4 threads: mean latency</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43.581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43.607 ms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+0.026 ms (statistical noise)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Native C 4 threads: total time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46.316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46.325 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+0.009 s (negligible)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Operating temperature</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46.2 → 61.8 °C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65.2 → 70.6 °C</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8.8 to 19.0 °C hotter</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Shape 7"/>
          <p:cNvSpPr/>
          <p:nvPr/>
        </p:nvSpPr>
        <p:spPr>
          <a:xfrm>
            <a:off x="812800" y="4386957"/>
            <a:ext cx="3386634" cy="0"/>
          </a:xfrm>
          <a:prstGeom prst="line">
            <a:avLst/>
          </a:prstGeom>
          <a:noFill/>
          <a:ln w="38100">
            <a:solidFill>
              <a:srgbClr val="0A2E6E"/>
            </a:solidFill>
            <a:prstDash val="solid"/>
          </a:ln>
        </p:spPr>
      </p:sp>
      <p:sp>
        <p:nvSpPr>
          <p:cNvPr id="12" name="Text 8"/>
          <p:cNvSpPr/>
          <p:nvPr/>
        </p:nvSpPr>
        <p:spPr>
          <a:xfrm>
            <a:off x="812800" y="4533007"/>
            <a:ext cx="34882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A2E6E"/>
                </a:solidFill>
                <a:latin typeface="Be Vietnam Pro" pitchFamily="34" charset="0"/>
                <a:ea typeface="Be Vietnam Pro" pitchFamily="34" charset="-122"/>
                <a:cs typeface="Be Vietnam Pro" pitchFamily="34" charset="-120"/>
              </a:rPr>
              <a:t>ondemand</a:t>
            </a:r>
            <a:endParaRPr lang="en-US" sz="3600" dirty="0"/>
          </a:p>
        </p:txBody>
      </p:sp>
      <p:sp>
        <p:nvSpPr>
          <p:cNvPr id="13" name="Text 9"/>
          <p:cNvSpPr/>
          <p:nvPr/>
        </p:nvSpPr>
        <p:spPr>
          <a:xfrm>
            <a:off x="812800" y="5041007"/>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kept: performance gains under 1% but runs hotter</a:t>
            </a:r>
            <a:endParaRPr lang="en-US" sz="1400" dirty="0"/>
          </a:p>
        </p:txBody>
      </p:sp>
      <p:sp>
        <p:nvSpPr>
          <p:cNvPr id="14" name="Shape 10"/>
          <p:cNvSpPr/>
          <p:nvPr/>
        </p:nvSpPr>
        <p:spPr>
          <a:xfrm>
            <a:off x="4402634" y="4386957"/>
            <a:ext cx="3386634" cy="0"/>
          </a:xfrm>
          <a:prstGeom prst="line">
            <a:avLst/>
          </a:prstGeom>
          <a:noFill/>
          <a:ln w="38100">
            <a:solidFill>
              <a:srgbClr val="0A2E6E"/>
            </a:solidFill>
            <a:prstDash val="solid"/>
          </a:ln>
        </p:spPr>
      </p:sp>
      <p:sp>
        <p:nvSpPr>
          <p:cNvPr id="15" name="Text 11"/>
          <p:cNvSpPr/>
          <p:nvPr/>
        </p:nvSpPr>
        <p:spPr>
          <a:xfrm>
            <a:off x="4402634" y="4533007"/>
            <a:ext cx="34882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A2E6E"/>
                </a:solidFill>
                <a:latin typeface="Be Vietnam Pro" pitchFamily="34" charset="0"/>
                <a:ea typeface="Be Vietnam Pro" pitchFamily="34" charset="-122"/>
                <a:cs typeface="Be Vietnam Pro" pitchFamily="34" charset="-120"/>
              </a:rPr>
              <a:t>69.10%</a:t>
            </a:r>
            <a:endParaRPr lang="en-US" sz="3600" dirty="0"/>
          </a:p>
        </p:txBody>
      </p:sp>
      <p:sp>
        <p:nvSpPr>
          <p:cNvPr id="16" name="Text 12"/>
          <p:cNvSpPr/>
          <p:nvPr/>
        </p:nvSpPr>
        <p:spPr>
          <a:xfrm>
            <a:off x="4402634" y="5041007"/>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Top-1 accuracy: 691 of 1,000 Imagenette images</a:t>
            </a:r>
            <a:endParaRPr lang="en-US" sz="1400" dirty="0"/>
          </a:p>
        </p:txBody>
      </p:sp>
      <p:sp>
        <p:nvSpPr>
          <p:cNvPr id="17" name="Shape 13"/>
          <p:cNvSpPr/>
          <p:nvPr/>
        </p:nvSpPr>
        <p:spPr>
          <a:xfrm>
            <a:off x="7992467" y="4386957"/>
            <a:ext cx="3386634" cy="0"/>
          </a:xfrm>
          <a:prstGeom prst="line">
            <a:avLst/>
          </a:prstGeom>
          <a:noFill/>
          <a:ln w="38100">
            <a:solidFill>
              <a:srgbClr val="0A2E6E"/>
            </a:solidFill>
            <a:prstDash val="solid"/>
          </a:ln>
        </p:spPr>
      </p:sp>
      <p:sp>
        <p:nvSpPr>
          <p:cNvPr id="18" name="Text 14"/>
          <p:cNvSpPr/>
          <p:nvPr/>
        </p:nvSpPr>
        <p:spPr>
          <a:xfrm>
            <a:off x="7992467" y="4533007"/>
            <a:ext cx="348823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0A2E6E"/>
                </a:solidFill>
                <a:latin typeface="Be Vietnam Pro" pitchFamily="34" charset="0"/>
                <a:ea typeface="Be Vietnam Pro" pitchFamily="34" charset="-122"/>
                <a:cs typeface="Be Vietnam Pro" pitchFamily="34" charset="-120"/>
              </a:rPr>
              <a:t>0</a:t>
            </a:r>
            <a:endParaRPr lang="en-US" sz="3600" dirty="0"/>
          </a:p>
        </p:txBody>
      </p:sp>
      <p:sp>
        <p:nvSpPr>
          <p:cNvPr id="19" name="Text 15"/>
          <p:cNvSpPr/>
          <p:nvPr/>
        </p:nvSpPr>
        <p:spPr>
          <a:xfrm>
            <a:off x="7992467" y="5041007"/>
            <a:ext cx="34882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04A"/>
                </a:solidFill>
                <a:latin typeface="Be Vietnam Pro" pitchFamily="34" charset="0"/>
                <a:ea typeface="Be Vietnam Pro" pitchFamily="34" charset="-122"/>
                <a:cs typeface="Be Vietnam Pro" pitchFamily="34" charset="-120"/>
              </a:rPr>
              <a:t>discrepancies: all 8 configurations predict the same classes</a:t>
            </a:r>
            <a:endParaRPr lang="en-US" sz="1400" dirty="0"/>
          </a:p>
        </p:txBody>
      </p:sp>
      <p:sp>
        <p:nvSpPr>
          <p:cNvPr id="20"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21"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Testing the mychardev driver on QEMU</a:t>
            </a:r>
            <a:endParaRPr lang="en-US" sz="2800" dirty="0"/>
          </a:p>
        </p:txBody>
      </p:sp>
      <p:sp>
        <p:nvSpPr>
          <p:cNvPr id="8" name="Shape 5"/>
          <p:cNvSpPr/>
          <p:nvPr/>
        </p:nvSpPr>
        <p:spPr>
          <a:xfrm>
            <a:off x="11372850" y="2009080"/>
            <a:ext cx="0" cy="2899569"/>
          </a:xfrm>
          <a:prstGeom prst="line">
            <a:avLst/>
          </a:prstGeom>
          <a:noFill/>
          <a:ln w="12700">
            <a:solidFill>
              <a:srgbClr val="111111"/>
            </a:solidFill>
            <a:prstDash val="solid"/>
          </a:ln>
        </p:spPr>
      </p:sp>
      <p:sp>
        <p:nvSpPr>
          <p:cNvPr id="9" name="Shape 6"/>
          <p:cNvSpPr/>
          <p:nvPr/>
        </p:nvSpPr>
        <p:spPr>
          <a:xfrm>
            <a:off x="812800" y="4902299"/>
            <a:ext cx="10566400" cy="0"/>
          </a:xfrm>
          <a:prstGeom prst="line">
            <a:avLst/>
          </a:prstGeom>
          <a:noFill/>
          <a:ln w="12700">
            <a:solidFill>
              <a:srgbClr val="111111"/>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021780"/>
          <a:ext cx="10541000" cy="2874169"/>
        </p:xfrm>
        <a:graphic>
          <a:graphicData uri="http://schemas.openxmlformats.org/drawingml/2006/table">
            <a:tbl>
              <a:tblPr/>
              <a:tblGrid>
                <a:gridCol w="737870"/>
                <a:gridCol w="3267710"/>
                <a:gridCol w="5270500"/>
                <a:gridCol w="1264920"/>
              </a:tblGrid>
              <a:tr h="359271">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No.</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Test command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Expected result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11111"/>
                          </a:solidFill>
                          <a:latin typeface="Be Vietnam Pro" pitchFamily="34" charset="0"/>
                          <a:ea typeface="Be Vietnam Pro" pitchFamily="34" charset="-122"/>
                          <a:cs typeface="Be Vietnam Pro" pitchFamily="34" charset="-120"/>
                        </a:rPr>
                        <a:t>Result</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1</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lsmod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The mychardev module has been loaded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2</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modinfo mychardev</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Correct version, description, updates/ path</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3</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ls -l /dev/mychardev</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Character device, major 10, permissions rw-rw-rw-</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4</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echo ... &gt; /dev/mychardev</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Write succeeds, dmesg records the number of bytes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5</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cat /dev/mychardev</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Reads back exactly the string that was written</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6</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rmmod mychardev</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/dev/mychardev is removed</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7</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modprobe mychardev</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Reloads successfully, /dev/mychardev reappears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11111"/>
                          </a:solidFill>
                          <a:latin typeface="Be Vietnam Pro" pitchFamily="34" charset="0"/>
                          <a:ea typeface="Be Vietnam Pro" pitchFamily="34" charset="-122"/>
                          <a:cs typeface="Be Vietnam Pro" pitchFamily="34" charset="-120"/>
                        </a:rPr>
                        <a:t>Pass</a:t>
                      </a:r>
                      <a:endParaRPr lang="en-US" sz="1300" dirty="0">
                        <a:latin typeface="Be Vietnam Pro" charset="0"/>
                        <a:ea typeface="Be Vietnam Pro" charset="0"/>
                        <a:cs typeface="Be Vietnam Pr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7"/>
          <p:cNvSpPr/>
          <p:nvPr/>
        </p:nvSpPr>
        <p:spPr>
          <a:xfrm>
            <a:off x="812800" y="5137249"/>
            <a:ext cx="1088339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6181D"/>
                </a:solidFill>
                <a:latin typeface="Be Vietnam Pro" pitchFamily="34" charset="0"/>
                <a:ea typeface="Be Vietnam Pro" pitchFamily="34" charset="-122"/>
                <a:cs typeface="Be Vietnam Pro" pitchFamily="34" charset="-120"/>
              </a:rPr>
              <a:t>dmesg shows the call order </a:t>
            </a:r>
            <a:r>
              <a:rPr lang="en-US" sz="1400" b="1" dirty="0">
                <a:solidFill>
                  <a:srgbClr val="16181D"/>
                </a:solidFill>
                <a:latin typeface="Be Vietnam Pro" pitchFamily="34" charset="0"/>
                <a:ea typeface="Be Vietnam Pro" pitchFamily="34" charset="-122"/>
                <a:cs typeface="Be Vietnam Pro" pitchFamily="34" charset="-120"/>
              </a:rPr>
              <a:t>opened → wrote 19 bytes → closed</a:t>
            </a:r>
            <a:r>
              <a:rPr lang="en-US" sz="1400" dirty="0">
                <a:solidFill>
                  <a:srgbClr val="16181D"/>
                </a:solidFill>
                <a:latin typeface="Be Vietnam Pro" pitchFamily="34" charset="0"/>
                <a:ea typeface="Be Vietnam Pro" pitchFamily="34" charset="-122"/>
                <a:cs typeface="Be Vietnam Pro" pitchFamily="34" charset="-120"/>
              </a:rPr>
              <a:t>: the 18 characters of “Xin chao tu Yocto!” plus the newline added by echo.</a:t>
            </a:r>
            <a:endParaRPr lang="en-US" sz="1400" dirty="0"/>
          </a:p>
        </p:txBody>
      </p:sp>
      <p:sp>
        <p:nvSpPr>
          <p:cNvPr id="12"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Objectives versus results</a:t>
            </a:r>
            <a:endParaRPr lang="en-US" sz="2800" dirty="0"/>
          </a:p>
        </p:txBody>
      </p:sp>
      <p:sp>
        <p:nvSpPr>
          <p:cNvPr id="8" name="Shape 5"/>
          <p:cNvSpPr/>
          <p:nvPr/>
        </p:nvSpPr>
        <p:spPr>
          <a:xfrm>
            <a:off x="11372850" y="2009080"/>
            <a:ext cx="0" cy="3087489"/>
          </a:xfrm>
          <a:prstGeom prst="line">
            <a:avLst/>
          </a:prstGeom>
          <a:noFill/>
          <a:ln w="12700">
            <a:solidFill>
              <a:srgbClr val="111111"/>
            </a:solidFill>
            <a:prstDash val="solid"/>
          </a:ln>
        </p:spPr>
      </p:sp>
      <p:sp>
        <p:nvSpPr>
          <p:cNvPr id="9" name="Shape 6"/>
          <p:cNvSpPr/>
          <p:nvPr/>
        </p:nvSpPr>
        <p:spPr>
          <a:xfrm>
            <a:off x="812800" y="5090220"/>
            <a:ext cx="10566400" cy="0"/>
          </a:xfrm>
          <a:prstGeom prst="line">
            <a:avLst/>
          </a:prstGeom>
          <a:noFill/>
          <a:ln w="12700">
            <a:solidFill>
              <a:srgbClr val="111111"/>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2021780"/>
          <a:ext cx="10541000" cy="3062089"/>
        </p:xfrm>
        <a:graphic>
          <a:graphicData uri="http://schemas.openxmlformats.org/drawingml/2006/table">
            <a:tbl>
              <a:tblPr/>
              <a:tblGrid>
                <a:gridCol w="2951480"/>
                <a:gridCol w="6113780"/>
                <a:gridCol w="1475740"/>
              </a:tblGrid>
              <a:tr h="332581">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Objective</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Result achieved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11111"/>
                          </a:solidFill>
                          <a:latin typeface="Be Vietnam Pro" pitchFamily="34" charset="0"/>
                          <a:ea typeface="Be Vietnam Pro" pitchFamily="34" charset="-122"/>
                          <a:cs typeface="Be Vietnam Pro" pitchFamily="34" charset="-120"/>
                        </a:rPr>
                        <a:t>Status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45902">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Q1: custom Yocto build for the Raspberry Pi 4</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Built core-image-base (5,806 tasks), 329 MB WIC image, boots successfully with systemd, with UART debugging</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Completed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902">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Q2: boot architecture of the BCM2711</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Detailed description of the 7-stage GPU-first boot process, with a table of boot files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Completed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902">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Q3: native C versus Python</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Equivalent latency (about 160 ms), C reduces RSS memory by 67.7% to 69.6% (10.12 vs 33.72 MiB), 100% matching predictions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Completed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902">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Q4: multi-core acceleration, system bottleneck</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3.67× speedup with 4 threads, throughput of 21.55 images/s; inference accounts for 93.30% to 98.32% of the time</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Completed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902">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QEMU emulation and device driver</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Built for qemux86-64; the mychardev driver loads automatically at boot and passes all 7 test cases</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11111"/>
                          </a:solidFill>
                          <a:latin typeface="Be Vietnam Pro" pitchFamily="34" charset="0"/>
                          <a:ea typeface="Be Vietnam Pro" pitchFamily="34" charset="-122"/>
                          <a:cs typeface="Be Vietnam Pro" pitchFamily="34" charset="-120"/>
                        </a:rPr>
                        <a:t>Completed</a:t>
                      </a:r>
                      <a:endParaRPr lang="en-US" sz="1200" dirty="0">
                        <a:latin typeface="Be Vietnam Pro" charset="0"/>
                        <a:ea typeface="Be Vietnam Pro" charset="0"/>
                        <a:cs typeface="Be Vietnam Pro"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1"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12"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HCMUTE logo">    </p:cNvPr>
          <p:cNvPicPr>
            <a:picLocks noChangeAspect="1"/>
          </p:cNvPicPr>
          <p:nvPr/>
        </p:nvPicPr>
        <p:blipFill>
          <a:blip r:embed="rId1"/>
          <a:srcRect l="0" r="0" t="-13" b="-13"/>
          <a:stretch/>
        </p:blipFill>
        <p:spPr>
          <a:xfrm>
            <a:off x="812800" y="203200"/>
            <a:ext cx="635000" cy="628650"/>
          </a:xfrm>
          <a:prstGeom prst="rect">
            <a:avLst/>
          </a:prstGeom>
        </p:spPr>
      </p:pic>
      <p:sp>
        <p:nvSpPr>
          <p:cNvPr id="3" name="Text 0"/>
          <p:cNvSpPr/>
          <p:nvPr/>
        </p:nvSpPr>
        <p:spPr>
          <a:xfrm>
            <a:off x="1600200" y="266700"/>
            <a:ext cx="7194550" cy="43676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A2E6E"/>
                </a:solidFill>
                <a:latin typeface="Be Vietnam Pro" pitchFamily="34" charset="0"/>
                <a:ea typeface="Be Vietnam Pro" pitchFamily="34" charset="-122"/>
                <a:cs typeface="Be Vietnam Pro" pitchFamily="34" charset="-120"/>
              </a:rPr>
              <a:t>HO CHI MINH CITY UNIVERSITY OF TECHNOLOGY AND ENGINEERING</a:t>
            </a:r>
            <a:endParaRPr lang="en-US" sz="1200" dirty="0"/>
          </a:p>
          <a:p>
            <a:pPr algn="l" indent="0" marL="0">
              <a:lnSpc>
                <a:spcPts val="1620"/>
              </a:lnSpc>
              <a:buNone/>
            </a:pPr>
            <a:r>
              <a:rPr lang="en-US" sz="1200" dirty="0">
                <a:solidFill>
                  <a:srgbClr val="0A2E6E"/>
                </a:solidFill>
                <a:latin typeface="Be Vietnam Pro" pitchFamily="34" charset="0"/>
                <a:ea typeface="Be Vietnam Pro" pitchFamily="34" charset="-122"/>
                <a:cs typeface="Be Vietnam Pro" pitchFamily="34" charset="-120"/>
              </a:rPr>
              <a:t>Faculty of Advanced Training</a:t>
            </a:r>
            <a:endParaRPr lang="en-US" sz="1200" dirty="0"/>
          </a:p>
        </p:txBody>
      </p:sp>
      <p:sp>
        <p:nvSpPr>
          <p:cNvPr id="4" name="Text 1"/>
          <p:cNvSpPr/>
          <p:nvPr/>
        </p:nvSpPr>
        <p:spPr>
          <a:xfrm>
            <a:off x="8763000" y="368300"/>
            <a:ext cx="2616200" cy="238720"/>
          </a:xfrm>
          <a:prstGeom prst="rect">
            <a:avLst/>
          </a:prstGeom>
          <a:noFill/>
          <a:ln/>
        </p:spPr>
        <p:txBody>
          <a:bodyPr wrap="square" lIns="0" tIns="0" rIns="0" bIns="0" rtlCol="0" anchor="t">
            <a:normAutofit/>
          </a:bodyPr>
          <a:lstStyle/>
          <a:p>
            <a:pPr algn="r" indent="0" marL="0">
              <a:lnSpc>
                <a:spcPts val="1680"/>
              </a:lnSpc>
              <a:buNone/>
            </a:pPr>
            <a:r>
              <a:rPr lang="en-US" sz="1200" b="1" spc="100" kern="0" dirty="0">
                <a:solidFill>
                  <a:srgbClr val="0A2E6E"/>
                </a:solidFill>
                <a:latin typeface="Be Vietnam Pro" pitchFamily="34" charset="0"/>
                <a:ea typeface="Be Vietnam Pro" pitchFamily="34" charset="-122"/>
                <a:cs typeface="Be Vietnam Pro" pitchFamily="34" charset="-120"/>
              </a:rPr>
              <a:t>EMBEDDED SYSTEMS</a:t>
            </a:r>
            <a:endParaRPr lang="en-US" sz="1200" dirty="0"/>
          </a:p>
        </p:txBody>
      </p:sp>
      <p:sp>
        <p:nvSpPr>
          <p:cNvPr id="5" name="Shape 2"/>
          <p:cNvSpPr/>
          <p:nvPr/>
        </p:nvSpPr>
        <p:spPr>
          <a:xfrm>
            <a:off x="0" y="939800"/>
            <a:ext cx="12192000" cy="50800"/>
          </a:xfrm>
          <a:prstGeom prst="rect">
            <a:avLst/>
          </a:prstGeom>
          <a:solidFill>
            <a:srgbClr val="0A2E6E"/>
          </a:solidFill>
          <a:ln/>
        </p:spPr>
      </p:sp>
      <p:sp>
        <p:nvSpPr>
          <p:cNvPr id="6" name="Shape 3"/>
          <p:cNvSpPr/>
          <p:nvPr/>
        </p:nvSpPr>
        <p:spPr>
          <a:xfrm>
            <a:off x="0" y="990600"/>
            <a:ext cx="12192000" cy="25400"/>
          </a:xfrm>
          <a:prstGeom prst="rect">
            <a:avLst/>
          </a:prstGeom>
          <a:solidFill>
            <a:srgbClr val="C8102E"/>
          </a:solidFill>
          <a:ln/>
        </p:spPr>
      </p:sp>
      <p:sp>
        <p:nvSpPr>
          <p:cNvPr id="7" name="Text 4"/>
          <p:cNvSpPr/>
          <p:nvPr>
            <p:ph type="title"/>
          </p:nvPr>
        </p:nvSpPr>
        <p:spPr>
          <a:xfrm>
            <a:off x="812800" y="1371600"/>
            <a:ext cx="1088339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A2E6E"/>
                </a:solidFill>
                <a:latin typeface="Be Vietnam Pro" pitchFamily="34" charset="0"/>
                <a:ea typeface="Be Vietnam Pro" pitchFamily="34" charset="-122"/>
                <a:cs typeface="Be Vietnam Pro" pitchFamily="34" charset="-120"/>
              </a:rPr>
              <a:t>Conclusion and future work</a:t>
            </a:r>
            <a:endParaRPr lang="en-US" sz="2800" dirty="0"/>
          </a:p>
        </p:txBody>
      </p:sp>
      <p:sp>
        <p:nvSpPr>
          <p:cNvPr id="8" name="Text 5"/>
          <p:cNvSpPr/>
          <p:nvPr/>
        </p:nvSpPr>
        <p:spPr>
          <a:xfrm>
            <a:off x="812800" y="2009080"/>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2E6E"/>
                </a:solidFill>
                <a:latin typeface="Be Vietnam Pro" pitchFamily="34" charset="0"/>
                <a:ea typeface="Be Vietnam Pro" pitchFamily="34" charset="-122"/>
                <a:cs typeface="Be Vietnam Pro" pitchFamily="34" charset="-120"/>
              </a:rPr>
              <a:t>Conclusion</a:t>
            </a:r>
            <a:endParaRPr lang="en-US" sz="1600" dirty="0"/>
          </a:p>
        </p:txBody>
      </p:sp>
      <p:sp>
        <p:nvSpPr>
          <p:cNvPr id="9" name="Text 6"/>
          <p:cNvSpPr/>
          <p:nvPr/>
        </p:nvSpPr>
        <p:spPr>
          <a:xfrm>
            <a:off x="904494" y="2341761"/>
            <a:ext cx="5133086" cy="2253853"/>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Custom Yocto Linux (Poky Scarthgap) boots the Raspberry Pi 4 from a 329 MB WIC image with systemd and UART debugging</a:t>
            </a:r>
            <a:endParaRPr lang="en-US" sz="1300" dirty="0"/>
          </a:p>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The 7-stage, GPU-first boot of the BCM2711 is fully documented</a:t>
            </a:r>
            <a:endParaRPr lang="en-US" sz="1300" dirty="0"/>
          </a:p>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Native C matches Python’s latency (~160 ms) with 67.7–69.6% less RSS memory</a:t>
            </a:r>
            <a:endParaRPr lang="en-US" sz="1300" dirty="0"/>
          </a:p>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4 threads: 3.67× faster, 21.55 images/s; Top-1 69.10%, 0 discrepancies</a:t>
            </a:r>
            <a:endParaRPr lang="en-US" sz="1300" dirty="0"/>
          </a:p>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mychardev auto-loads on QEMU and passes all 7 tests</a:t>
            </a:r>
            <a:endParaRPr lang="en-US" sz="1300" dirty="0"/>
          </a:p>
        </p:txBody>
      </p:sp>
      <p:sp>
        <p:nvSpPr>
          <p:cNvPr id="10" name="Text 7"/>
          <p:cNvSpPr/>
          <p:nvPr/>
        </p:nvSpPr>
        <p:spPr>
          <a:xfrm>
            <a:off x="6299200" y="2009080"/>
            <a:ext cx="52324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A2E6E"/>
                </a:solidFill>
                <a:latin typeface="Be Vietnam Pro" pitchFamily="34" charset="0"/>
                <a:ea typeface="Be Vietnam Pro" pitchFamily="34" charset="-122"/>
                <a:cs typeface="Be Vietnam Pro" pitchFamily="34" charset="-120"/>
              </a:rPr>
              <a:t>Limitations and future work</a:t>
            </a:r>
            <a:endParaRPr lang="en-US" sz="1600" dirty="0"/>
          </a:p>
        </p:txBody>
      </p:sp>
      <p:sp>
        <p:nvSpPr>
          <p:cNvPr id="11" name="Text 8"/>
          <p:cNvSpPr/>
          <p:nvPr/>
        </p:nvSpPr>
        <p:spPr>
          <a:xfrm>
            <a:off x="6390894" y="2341761"/>
            <a:ext cx="5133086" cy="1808163"/>
          </a:xfrm>
          <a:prstGeom prst="rect">
            <a:avLst/>
          </a:prstGeom>
          <a:noFill/>
          <a:ln/>
        </p:spPr>
        <p:txBody>
          <a:bodyPr wrap="square" lIns="0" tIns="0" rIns="0" bIns="0" rtlCol="0" anchor="t">
            <a:normAutofit/>
          </a:bodyPr>
          <a:lstStyle/>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Measure on-board JPEG decoding and resizing, run more repetitions, add power measurements</a:t>
            </a:r>
            <a:endParaRPr lang="en-US" sz="1300" dirty="0"/>
          </a:p>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Shorten boot time with systemd-analyze and systemctl mask</a:t>
            </a:r>
            <a:endParaRPr lang="en-US" sz="1300" dirty="0"/>
          </a:p>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Driver: handle O_TRUNC, report buffer overflow, dynamic buffer; add ioctl, sysfs/procfs, poll/select</a:t>
            </a:r>
            <a:endParaRPr lang="en-US" sz="1300" dirty="0"/>
          </a:p>
          <a:p>
            <a:pPr algn="l" marL="162306" indent="-162306">
              <a:lnSpc>
                <a:spcPts val="1755"/>
              </a:lnSpc>
              <a:buSzPct val="100000"/>
              <a:buChar char="•"/>
            </a:pPr>
            <a:r>
              <a:rPr lang="en-US" sz="1300" dirty="0">
                <a:solidFill>
                  <a:srgbClr val="16181D"/>
                </a:solidFill>
                <a:latin typeface="Be Vietnam Pro" pitchFamily="34" charset="0"/>
                <a:ea typeface="Be Vietnam Pro" pitchFamily="34" charset="-122"/>
                <a:cs typeface="Be Vietnam Pro" pitchFamily="34" charset="-120"/>
              </a:rPr>
              <a:t>Real hardware: platform driver + Device Tree (e.g., GPIO); test on qemuarm/qemuarm64 first</a:t>
            </a:r>
            <a:endParaRPr lang="en-US" sz="1300" dirty="0"/>
          </a:p>
        </p:txBody>
      </p:sp>
      <p:sp>
        <p:nvSpPr>
          <p:cNvPr id="12" name="Shape 9"/>
          <p:cNvSpPr/>
          <p:nvPr/>
        </p:nvSpPr>
        <p:spPr>
          <a:xfrm>
            <a:off x="831850" y="4798814"/>
            <a:ext cx="0" cy="530820"/>
          </a:xfrm>
          <a:prstGeom prst="line">
            <a:avLst/>
          </a:prstGeom>
          <a:noFill/>
          <a:ln w="38100">
            <a:solidFill>
              <a:srgbClr val="C8102E"/>
            </a:solidFill>
            <a:prstDash val="solid"/>
          </a:ln>
        </p:spPr>
      </p:sp>
      <p:sp>
        <p:nvSpPr>
          <p:cNvPr id="13" name="Text 10"/>
          <p:cNvSpPr/>
          <p:nvPr/>
        </p:nvSpPr>
        <p:spPr>
          <a:xfrm>
            <a:off x="1003300" y="4824214"/>
            <a:ext cx="1068717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0A2E6E"/>
                </a:solidFill>
                <a:latin typeface="Be Vietnam Pro" pitchFamily="34" charset="0"/>
                <a:ea typeface="Be Vietnam Pro" pitchFamily="34" charset="-122"/>
                <a:cs typeface="Be Vietnam Pro" pitchFamily="34" charset="-120"/>
              </a:rPr>
              <a:t>AI performance on the board improved without changing the model’s structure or weights, and the whole system is reproducible from configuration files and recipes.</a:t>
            </a:r>
            <a:endParaRPr lang="en-US" sz="1400" dirty="0"/>
          </a:p>
        </p:txBody>
      </p:sp>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Group 4 · Embedded Linux, Edge AI and a device driver on Raspberry Pi 4</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05C"/>
                </a:solidFill>
                <a:latin typeface="Be Vietnam Pro" pitchFamily="34" charset="0"/>
                <a:ea typeface="Be Vietnam Pro" pitchFamily="34" charset="-122"/>
                <a:cs typeface="Be Vietnam Pro"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E6E"/>
        </a:solidFill>
      </p:bgPr>
    </p:bg>
    <p:spTree>
      <p:nvGrpSpPr>
        <p:cNvPr id="1" name=""/>
        <p:cNvGrpSpPr/>
        <p:nvPr/>
      </p:nvGrpSpPr>
      <p:grpSpPr>
        <a:xfrm>
          <a:off x="0" y="0"/>
          <a:ext cx="0" cy="0"/>
          <a:chOff x="0" y="0"/>
          <a:chExt cx="0" cy="0"/>
        </a:xfrm>
      </p:grpSpPr>
      <p:sp>
        <p:nvSpPr>
          <p:cNvPr id="2" name="Shape 0"/>
          <p:cNvSpPr/>
          <p:nvPr/>
        </p:nvSpPr>
        <p:spPr>
          <a:xfrm>
            <a:off x="0" y="0"/>
            <a:ext cx="12192000" cy="50800"/>
          </a:xfrm>
          <a:prstGeom prst="rect">
            <a:avLst/>
          </a:prstGeom>
          <a:solidFill>
            <a:srgbClr val="C8102E"/>
          </a:solidFill>
          <a:ln/>
        </p:spPr>
      </p:sp>
      <p:sp>
        <p:nvSpPr>
          <p:cNvPr id="3" name="Shape 1"/>
          <p:cNvSpPr/>
          <p:nvPr/>
        </p:nvSpPr>
        <p:spPr>
          <a:xfrm>
            <a:off x="0" y="6807200"/>
            <a:ext cx="12192000" cy="50800"/>
          </a:xfrm>
          <a:prstGeom prst="rect">
            <a:avLst/>
          </a:prstGeom>
          <a:solidFill>
            <a:srgbClr val="C8102E"/>
          </a:solidFill>
          <a:ln/>
        </p:spPr>
      </p:sp>
      <p:sp>
        <p:nvSpPr>
          <p:cNvPr id="4" name="Shape 2"/>
          <p:cNvSpPr/>
          <p:nvPr/>
        </p:nvSpPr>
        <p:spPr>
          <a:xfrm>
            <a:off x="5461000" y="1885950"/>
            <a:ext cx="1270000" cy="1257300"/>
          </a:xfrm>
          <a:prstGeom prst="roundRect">
            <a:avLst>
              <a:gd name="adj" fmla="val 12121"/>
            </a:avLst>
          </a:prstGeom>
          <a:solidFill>
            <a:srgbClr val="FFFFFF"/>
          </a:solidFill>
          <a:ln/>
        </p:spPr>
      </p:sp>
      <p:pic>
        <p:nvPicPr>
          <p:cNvPr id="5" name="Image 0" descr="HCMUTE logo">    </p:cNvPr>
          <p:cNvPicPr>
            <a:picLocks noChangeAspect="1"/>
          </p:cNvPicPr>
          <p:nvPr/>
        </p:nvPicPr>
        <p:blipFill>
          <a:blip r:embed="rId1"/>
          <a:srcRect l="-114" r="-114" t="0" b="0"/>
          <a:stretch/>
        </p:blipFill>
        <p:spPr>
          <a:xfrm>
            <a:off x="5588000" y="2012950"/>
            <a:ext cx="1016000" cy="1003300"/>
          </a:xfrm>
          <a:prstGeom prst="rect">
            <a:avLst/>
          </a:prstGeom>
        </p:spPr>
      </p:pic>
      <p:sp>
        <p:nvSpPr>
          <p:cNvPr id="6" name="Text 3"/>
          <p:cNvSpPr/>
          <p:nvPr>
            <p:ph type="title"/>
          </p:nvPr>
        </p:nvSpPr>
        <p:spPr>
          <a:xfrm>
            <a:off x="2151707" y="3346450"/>
            <a:ext cx="7888486" cy="640060"/>
          </a:xfrm>
          <a:prstGeom prst="rect">
            <a:avLst/>
          </a:prstGeom>
          <a:noFill/>
          <a:ln/>
        </p:spPr>
        <p:txBody>
          <a:bodyPr wrap="square" lIns="0" tIns="0" rIns="0" bIns="0" rtlCol="0" anchor="t">
            <a:normAutofit/>
          </a:bodyPr>
          <a:lstStyle/>
          <a:p>
            <a:pPr algn="ctr" indent="0" marL="0">
              <a:lnSpc>
                <a:spcPts val="4840"/>
              </a:lnSpc>
              <a:buNone/>
            </a:pPr>
            <a:r>
              <a:rPr lang="en-US" sz="4400" b="1" i="0" dirty="0">
                <a:solidFill>
                  <a:srgbClr val="FFFFFF"/>
                </a:solidFill>
                <a:latin typeface="Be Vietnam Pro" pitchFamily="34" charset="0"/>
                <a:ea typeface="Be Vietnam Pro" pitchFamily="34" charset="-122"/>
                <a:cs typeface="Be Vietnam Pro" pitchFamily="34" charset="-120"/>
              </a:rPr>
              <a:t>Thank you for listening!</a:t>
            </a:r>
            <a:endParaRPr lang="en-US" sz="4400" dirty="0"/>
          </a:p>
        </p:txBody>
      </p:sp>
      <p:sp>
        <p:nvSpPr>
          <p:cNvPr id="7" name="Text 4"/>
          <p:cNvSpPr/>
          <p:nvPr/>
        </p:nvSpPr>
        <p:spPr>
          <a:xfrm>
            <a:off x="4376986" y="4164310"/>
            <a:ext cx="3437930" cy="381000"/>
          </a:xfrm>
          <a:prstGeom prst="rect">
            <a:avLst/>
          </a:prstGeom>
          <a:noFill/>
          <a:ln/>
        </p:spPr>
        <p:txBody>
          <a:bodyPr wrap="square" lIns="0" tIns="0" rIns="0" bIns="0" rtlCol="0" anchor="t">
            <a:normAutofit/>
          </a:bodyPr>
          <a:lstStyle/>
          <a:p>
            <a:pPr algn="ctr" indent="0" marL="0">
              <a:lnSpc>
                <a:spcPts val="2800"/>
              </a:lnSpc>
              <a:buNone/>
            </a:pPr>
            <a:r>
              <a:rPr lang="en-US" sz="2000" dirty="0">
                <a:solidFill>
                  <a:srgbClr val="D6DEEE"/>
                </a:solidFill>
                <a:latin typeface="Be Vietnam Pro" pitchFamily="34" charset="0"/>
                <a:ea typeface="Be Vietnam Pro" pitchFamily="34" charset="-122"/>
                <a:cs typeface="Be Vietnam Pro" pitchFamily="34" charset="-120"/>
              </a:rPr>
              <a:t>Questions and answers</a:t>
            </a:r>
            <a:endParaRPr lang="en-US" sz="2000" dirty="0"/>
          </a:p>
        </p:txBody>
      </p:sp>
      <p:sp>
        <p:nvSpPr>
          <p:cNvPr id="8" name="Text 5"/>
          <p:cNvSpPr/>
          <p:nvPr/>
        </p:nvSpPr>
        <p:spPr>
          <a:xfrm>
            <a:off x="2838807" y="4723110"/>
            <a:ext cx="6514386"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D6DEEE"/>
                </a:solidFill>
                <a:latin typeface="Be Vietnam Pro" pitchFamily="34" charset="0"/>
                <a:ea typeface="Be Vietnam Pro" pitchFamily="34" charset="-122"/>
                <a:cs typeface="Be Vietnam Pro" pitchFamily="34" charset="-120"/>
              </a:rPr>
              <a:t>Group 4 · Embedded Systems · Ho Chi Minh City, October 2026</a:t>
            </a:r>
            <a:endParaRPr lang="en-US" sz="1400" dirty="0"/>
          </a:p>
        </p:txBody>
      </p:sp>
    </p:spTree>
  </p:cSld>
  <p:clrMapOvr>
    <a:masterClrMapping/>
  </p:clrMapOvr>
</p:sld>
</file>

<file path=ppt/theme/theme1.xml><?xml version="1.0" encoding="utf-8"?>
<a:theme xmlns:a="http://schemas.openxmlformats.org/drawingml/2006/main" name="Embedded Linux &amp; Edge AI on Raspberry Pi 4 — Group 4">
  <a:themeElements>
    <a:clrScheme name="Embedded Linux &amp; Edge AI on Raspberry Pi 4 — Group 4">
      <a:dk1>
        <a:srgbClr val="0A2E6E"/>
      </a:dk1>
      <a:lt1>
        <a:srgbClr val="FFFFFF"/>
      </a:lt1>
      <a:dk2>
        <a:srgbClr val="476292"/>
      </a:dk2>
      <a:lt2>
        <a:srgbClr val="E7EAF1"/>
      </a:lt2>
      <a:accent1>
        <a:srgbClr val="C8102E"/>
      </a:accent1>
      <a:accent2>
        <a:srgbClr val="4A505C"/>
      </a:accent2>
      <a:accent3>
        <a:srgbClr val="3A404A"/>
      </a:accent3>
      <a:accent4>
        <a:srgbClr val="16181D"/>
      </a:accent4>
      <a:accent5>
        <a:srgbClr val="D6DEEE"/>
      </a:accent5>
      <a:accent6>
        <a:srgbClr val="9AA0A6"/>
      </a:accent6>
      <a:hlink>
        <a:srgbClr val="0563C1"/>
      </a:hlink>
      <a:folHlink>
        <a:srgbClr val="954F72"/>
      </a:folHlink>
    </a:clrScheme>
    <a:fontScheme name="Embedded Linux &amp; Edge AI on Raspberry Pi 4 — Group 4">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Linux &amp; Edge AI on Raspberry Pi 4 — Group 4</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2026-10-28T12:39:26Z</dcterms:created>
  <dcterms:modified xsi:type="dcterms:W3CDTF">2026-10-28T12:39:26Z</dcterms:modified>
</cp:coreProperties>
</file>